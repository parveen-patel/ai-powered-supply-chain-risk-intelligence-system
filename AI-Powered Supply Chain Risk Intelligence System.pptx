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5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1" d="100"/>
          <a:sy n="61" d="100"/>
        </p:scale>
        <p:origin x="109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BDF4E-58F4-6065-A870-1F6CA005B3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7F8D00-2C56-D131-8E20-1E72FE4D49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BFC55FA-4F70-4083-D35F-5AB4909E0F1E}"/>
              </a:ext>
            </a:extLst>
          </p:cNvPr>
          <p:cNvSpPr>
            <a:spLocks noGrp="1"/>
          </p:cNvSpPr>
          <p:nvPr>
            <p:ph type="dt" sz="half" idx="10"/>
          </p:nvPr>
        </p:nvSpPr>
        <p:spPr/>
        <p:txBody>
          <a:bodyPr/>
          <a:lstStyle/>
          <a:p>
            <a:fld id="{83A3B3C2-409F-42DE-878B-CB34AF305F3F}" type="datetimeFigureOut">
              <a:rPr lang="en-IN" smtClean="0"/>
              <a:t>17-03-2026</a:t>
            </a:fld>
            <a:endParaRPr lang="en-IN"/>
          </a:p>
        </p:txBody>
      </p:sp>
      <p:sp>
        <p:nvSpPr>
          <p:cNvPr id="5" name="Footer Placeholder 4">
            <a:extLst>
              <a:ext uri="{FF2B5EF4-FFF2-40B4-BE49-F238E27FC236}">
                <a16:creationId xmlns:a16="http://schemas.microsoft.com/office/drawing/2014/main" id="{AC191E50-6DB7-F053-CD59-78355C52B1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7FF1FD-430E-0AC1-755B-A6C1D64A98EB}"/>
              </a:ext>
            </a:extLst>
          </p:cNvPr>
          <p:cNvSpPr>
            <a:spLocks noGrp="1"/>
          </p:cNvSpPr>
          <p:nvPr>
            <p:ph type="sldNum" sz="quarter" idx="12"/>
          </p:nvPr>
        </p:nvSpPr>
        <p:spPr/>
        <p:txBody>
          <a:bodyPr/>
          <a:lstStyle/>
          <a:p>
            <a:fld id="{244F67F3-7013-4E74-A505-3CD513DAEBBC}" type="slidenum">
              <a:rPr lang="en-IN" smtClean="0"/>
              <a:t>‹#›</a:t>
            </a:fld>
            <a:endParaRPr lang="en-IN"/>
          </a:p>
        </p:txBody>
      </p:sp>
    </p:spTree>
    <p:extLst>
      <p:ext uri="{BB962C8B-B14F-4D97-AF65-F5344CB8AC3E}">
        <p14:creationId xmlns:p14="http://schemas.microsoft.com/office/powerpoint/2010/main" val="1492649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204E3-0756-D35F-A573-A455A928E4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1BB5F95-BD77-0489-132C-A2C1176DCF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10E348-37DC-5118-0881-343FA740484B}"/>
              </a:ext>
            </a:extLst>
          </p:cNvPr>
          <p:cNvSpPr>
            <a:spLocks noGrp="1"/>
          </p:cNvSpPr>
          <p:nvPr>
            <p:ph type="dt" sz="half" idx="10"/>
          </p:nvPr>
        </p:nvSpPr>
        <p:spPr/>
        <p:txBody>
          <a:bodyPr/>
          <a:lstStyle/>
          <a:p>
            <a:fld id="{83A3B3C2-409F-42DE-878B-CB34AF305F3F}" type="datetimeFigureOut">
              <a:rPr lang="en-IN" smtClean="0"/>
              <a:t>17-03-2026</a:t>
            </a:fld>
            <a:endParaRPr lang="en-IN"/>
          </a:p>
        </p:txBody>
      </p:sp>
      <p:sp>
        <p:nvSpPr>
          <p:cNvPr id="5" name="Footer Placeholder 4">
            <a:extLst>
              <a:ext uri="{FF2B5EF4-FFF2-40B4-BE49-F238E27FC236}">
                <a16:creationId xmlns:a16="http://schemas.microsoft.com/office/drawing/2014/main" id="{91BB4365-9A42-3AD4-267C-5983918448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FE9795-793C-E9C1-D5AB-EF4158F5EFB9}"/>
              </a:ext>
            </a:extLst>
          </p:cNvPr>
          <p:cNvSpPr>
            <a:spLocks noGrp="1"/>
          </p:cNvSpPr>
          <p:nvPr>
            <p:ph type="sldNum" sz="quarter" idx="12"/>
          </p:nvPr>
        </p:nvSpPr>
        <p:spPr/>
        <p:txBody>
          <a:bodyPr/>
          <a:lstStyle/>
          <a:p>
            <a:fld id="{244F67F3-7013-4E74-A505-3CD513DAEBBC}" type="slidenum">
              <a:rPr lang="en-IN" smtClean="0"/>
              <a:t>‹#›</a:t>
            </a:fld>
            <a:endParaRPr lang="en-IN"/>
          </a:p>
        </p:txBody>
      </p:sp>
    </p:spTree>
    <p:extLst>
      <p:ext uri="{BB962C8B-B14F-4D97-AF65-F5344CB8AC3E}">
        <p14:creationId xmlns:p14="http://schemas.microsoft.com/office/powerpoint/2010/main" val="1575250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A86AF-AB0E-44F9-F30C-9336DA9F30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1FAA338-2C6F-FBE6-7EFC-24394A897F4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888E9E-2B78-149C-ABEF-F925BFFDC354}"/>
              </a:ext>
            </a:extLst>
          </p:cNvPr>
          <p:cNvSpPr>
            <a:spLocks noGrp="1"/>
          </p:cNvSpPr>
          <p:nvPr>
            <p:ph type="dt" sz="half" idx="10"/>
          </p:nvPr>
        </p:nvSpPr>
        <p:spPr/>
        <p:txBody>
          <a:bodyPr/>
          <a:lstStyle/>
          <a:p>
            <a:fld id="{83A3B3C2-409F-42DE-878B-CB34AF305F3F}" type="datetimeFigureOut">
              <a:rPr lang="en-IN" smtClean="0"/>
              <a:t>17-03-2026</a:t>
            </a:fld>
            <a:endParaRPr lang="en-IN"/>
          </a:p>
        </p:txBody>
      </p:sp>
      <p:sp>
        <p:nvSpPr>
          <p:cNvPr id="5" name="Footer Placeholder 4">
            <a:extLst>
              <a:ext uri="{FF2B5EF4-FFF2-40B4-BE49-F238E27FC236}">
                <a16:creationId xmlns:a16="http://schemas.microsoft.com/office/drawing/2014/main" id="{D660C3C0-FB4D-40EE-6A59-8B7ED90A5D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1588C3-3463-B976-0921-89F2BA00EA52}"/>
              </a:ext>
            </a:extLst>
          </p:cNvPr>
          <p:cNvSpPr>
            <a:spLocks noGrp="1"/>
          </p:cNvSpPr>
          <p:nvPr>
            <p:ph type="sldNum" sz="quarter" idx="12"/>
          </p:nvPr>
        </p:nvSpPr>
        <p:spPr/>
        <p:txBody>
          <a:bodyPr/>
          <a:lstStyle/>
          <a:p>
            <a:fld id="{244F67F3-7013-4E74-A505-3CD513DAEBBC}" type="slidenum">
              <a:rPr lang="en-IN" smtClean="0"/>
              <a:t>‹#›</a:t>
            </a:fld>
            <a:endParaRPr lang="en-IN"/>
          </a:p>
        </p:txBody>
      </p:sp>
    </p:spTree>
    <p:extLst>
      <p:ext uri="{BB962C8B-B14F-4D97-AF65-F5344CB8AC3E}">
        <p14:creationId xmlns:p14="http://schemas.microsoft.com/office/powerpoint/2010/main" val="3875400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30A57-321E-DE9E-F7A7-5B4FF38BEC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8017104-73F7-03DF-2B61-196DD15FCD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5584C17-8DAB-81BD-3700-1FC78AF3C0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5B0CC3-2B0D-AC02-EA89-3EC5501859A0}"/>
              </a:ext>
            </a:extLst>
          </p:cNvPr>
          <p:cNvSpPr>
            <a:spLocks noGrp="1"/>
          </p:cNvSpPr>
          <p:nvPr>
            <p:ph type="dt" sz="half" idx="10"/>
          </p:nvPr>
        </p:nvSpPr>
        <p:spPr/>
        <p:txBody>
          <a:bodyPr/>
          <a:lstStyle/>
          <a:p>
            <a:fld id="{83A3B3C2-409F-42DE-878B-CB34AF305F3F}" type="datetimeFigureOut">
              <a:rPr lang="en-IN" smtClean="0"/>
              <a:t>17-03-2026</a:t>
            </a:fld>
            <a:endParaRPr lang="en-IN"/>
          </a:p>
        </p:txBody>
      </p:sp>
      <p:sp>
        <p:nvSpPr>
          <p:cNvPr id="6" name="Footer Placeholder 5">
            <a:extLst>
              <a:ext uri="{FF2B5EF4-FFF2-40B4-BE49-F238E27FC236}">
                <a16:creationId xmlns:a16="http://schemas.microsoft.com/office/drawing/2014/main" id="{3F28F180-3E21-A2F0-7B15-1ED90C97BD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C4BB5D-BF2F-86C3-BD40-095B12F18EF3}"/>
              </a:ext>
            </a:extLst>
          </p:cNvPr>
          <p:cNvSpPr>
            <a:spLocks noGrp="1"/>
          </p:cNvSpPr>
          <p:nvPr>
            <p:ph type="sldNum" sz="quarter" idx="12"/>
          </p:nvPr>
        </p:nvSpPr>
        <p:spPr/>
        <p:txBody>
          <a:bodyPr/>
          <a:lstStyle/>
          <a:p>
            <a:fld id="{244F67F3-7013-4E74-A505-3CD513DAEBBC}" type="slidenum">
              <a:rPr lang="en-IN" smtClean="0"/>
              <a:t>‹#›</a:t>
            </a:fld>
            <a:endParaRPr lang="en-IN"/>
          </a:p>
        </p:txBody>
      </p:sp>
    </p:spTree>
    <p:extLst>
      <p:ext uri="{BB962C8B-B14F-4D97-AF65-F5344CB8AC3E}">
        <p14:creationId xmlns:p14="http://schemas.microsoft.com/office/powerpoint/2010/main" val="2598073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2A070-1387-FE2F-70E2-8A8E2475A83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7328DF5-6516-F546-27AC-32FF61020EA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1D6AB2-7FC9-389A-C0BC-E1CE16470B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9F25E59-306B-7BC4-36F3-79CD554A9D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8E7FE1-0CDC-F8F9-F465-3C9573061D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5DDDB55-FAE7-9E0C-3D91-0B6184A78AB7}"/>
              </a:ext>
            </a:extLst>
          </p:cNvPr>
          <p:cNvSpPr>
            <a:spLocks noGrp="1"/>
          </p:cNvSpPr>
          <p:nvPr>
            <p:ph type="dt" sz="half" idx="10"/>
          </p:nvPr>
        </p:nvSpPr>
        <p:spPr/>
        <p:txBody>
          <a:bodyPr/>
          <a:lstStyle/>
          <a:p>
            <a:fld id="{83A3B3C2-409F-42DE-878B-CB34AF305F3F}" type="datetimeFigureOut">
              <a:rPr lang="en-IN" smtClean="0"/>
              <a:t>17-03-2026</a:t>
            </a:fld>
            <a:endParaRPr lang="en-IN"/>
          </a:p>
        </p:txBody>
      </p:sp>
      <p:sp>
        <p:nvSpPr>
          <p:cNvPr id="8" name="Footer Placeholder 7">
            <a:extLst>
              <a:ext uri="{FF2B5EF4-FFF2-40B4-BE49-F238E27FC236}">
                <a16:creationId xmlns:a16="http://schemas.microsoft.com/office/drawing/2014/main" id="{BC13C953-BFFD-4897-E143-82F025C4E96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A769F7F-8E08-2BF9-7386-B9BF54DCE026}"/>
              </a:ext>
            </a:extLst>
          </p:cNvPr>
          <p:cNvSpPr>
            <a:spLocks noGrp="1"/>
          </p:cNvSpPr>
          <p:nvPr>
            <p:ph type="sldNum" sz="quarter" idx="12"/>
          </p:nvPr>
        </p:nvSpPr>
        <p:spPr/>
        <p:txBody>
          <a:bodyPr/>
          <a:lstStyle/>
          <a:p>
            <a:fld id="{244F67F3-7013-4E74-A505-3CD513DAEBBC}" type="slidenum">
              <a:rPr lang="en-IN" smtClean="0"/>
              <a:t>‹#›</a:t>
            </a:fld>
            <a:endParaRPr lang="en-IN"/>
          </a:p>
        </p:txBody>
      </p:sp>
    </p:spTree>
    <p:extLst>
      <p:ext uri="{BB962C8B-B14F-4D97-AF65-F5344CB8AC3E}">
        <p14:creationId xmlns:p14="http://schemas.microsoft.com/office/powerpoint/2010/main" val="1494456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B498B-2949-866F-91C6-EA1BCAB733B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3C5FF4D-6F0A-C3A4-3891-A71FAB5BD05E}"/>
              </a:ext>
            </a:extLst>
          </p:cNvPr>
          <p:cNvSpPr>
            <a:spLocks noGrp="1"/>
          </p:cNvSpPr>
          <p:nvPr>
            <p:ph type="dt" sz="half" idx="10"/>
          </p:nvPr>
        </p:nvSpPr>
        <p:spPr/>
        <p:txBody>
          <a:bodyPr/>
          <a:lstStyle/>
          <a:p>
            <a:fld id="{83A3B3C2-409F-42DE-878B-CB34AF305F3F}" type="datetimeFigureOut">
              <a:rPr lang="en-IN" smtClean="0"/>
              <a:t>17-03-2026</a:t>
            </a:fld>
            <a:endParaRPr lang="en-IN"/>
          </a:p>
        </p:txBody>
      </p:sp>
      <p:sp>
        <p:nvSpPr>
          <p:cNvPr id="4" name="Footer Placeholder 3">
            <a:extLst>
              <a:ext uri="{FF2B5EF4-FFF2-40B4-BE49-F238E27FC236}">
                <a16:creationId xmlns:a16="http://schemas.microsoft.com/office/drawing/2014/main" id="{6BFA2439-E913-3BCE-BEA7-C9098DD0517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B02EF95-A922-B704-76DA-E7605F28BD54}"/>
              </a:ext>
            </a:extLst>
          </p:cNvPr>
          <p:cNvSpPr>
            <a:spLocks noGrp="1"/>
          </p:cNvSpPr>
          <p:nvPr>
            <p:ph type="sldNum" sz="quarter" idx="12"/>
          </p:nvPr>
        </p:nvSpPr>
        <p:spPr/>
        <p:txBody>
          <a:bodyPr/>
          <a:lstStyle/>
          <a:p>
            <a:fld id="{244F67F3-7013-4E74-A505-3CD513DAEBBC}" type="slidenum">
              <a:rPr lang="en-IN" smtClean="0"/>
              <a:t>‹#›</a:t>
            </a:fld>
            <a:endParaRPr lang="en-IN"/>
          </a:p>
        </p:txBody>
      </p:sp>
    </p:spTree>
    <p:extLst>
      <p:ext uri="{BB962C8B-B14F-4D97-AF65-F5344CB8AC3E}">
        <p14:creationId xmlns:p14="http://schemas.microsoft.com/office/powerpoint/2010/main" val="82831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9C3CFA-9350-A976-0EA2-410EFA5B2A84}"/>
              </a:ext>
            </a:extLst>
          </p:cNvPr>
          <p:cNvSpPr>
            <a:spLocks noGrp="1"/>
          </p:cNvSpPr>
          <p:nvPr>
            <p:ph type="dt" sz="half" idx="10"/>
          </p:nvPr>
        </p:nvSpPr>
        <p:spPr/>
        <p:txBody>
          <a:bodyPr/>
          <a:lstStyle/>
          <a:p>
            <a:fld id="{83A3B3C2-409F-42DE-878B-CB34AF305F3F}" type="datetimeFigureOut">
              <a:rPr lang="en-IN" smtClean="0"/>
              <a:t>17-03-2026</a:t>
            </a:fld>
            <a:endParaRPr lang="en-IN"/>
          </a:p>
        </p:txBody>
      </p:sp>
      <p:sp>
        <p:nvSpPr>
          <p:cNvPr id="3" name="Footer Placeholder 2">
            <a:extLst>
              <a:ext uri="{FF2B5EF4-FFF2-40B4-BE49-F238E27FC236}">
                <a16:creationId xmlns:a16="http://schemas.microsoft.com/office/drawing/2014/main" id="{485F8EC5-0483-A208-ED2F-9CA2192BE15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B5880F6-4F22-B3A7-25A9-F2D654A43996}"/>
              </a:ext>
            </a:extLst>
          </p:cNvPr>
          <p:cNvSpPr>
            <a:spLocks noGrp="1"/>
          </p:cNvSpPr>
          <p:nvPr>
            <p:ph type="sldNum" sz="quarter" idx="12"/>
          </p:nvPr>
        </p:nvSpPr>
        <p:spPr/>
        <p:txBody>
          <a:bodyPr/>
          <a:lstStyle/>
          <a:p>
            <a:fld id="{244F67F3-7013-4E74-A505-3CD513DAEBBC}" type="slidenum">
              <a:rPr lang="en-IN" smtClean="0"/>
              <a:t>‹#›</a:t>
            </a:fld>
            <a:endParaRPr lang="en-IN"/>
          </a:p>
        </p:txBody>
      </p:sp>
    </p:spTree>
    <p:extLst>
      <p:ext uri="{BB962C8B-B14F-4D97-AF65-F5344CB8AC3E}">
        <p14:creationId xmlns:p14="http://schemas.microsoft.com/office/powerpoint/2010/main" val="4185599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AFDA3-85EF-F8D2-6F22-93AA274B64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25EC47C-7543-4F97-6E18-BEFC9981E1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6D39AF8-128A-543A-27B7-4A925502B8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ED8D6C-99CC-5818-09F5-2E4DC0401E4B}"/>
              </a:ext>
            </a:extLst>
          </p:cNvPr>
          <p:cNvSpPr>
            <a:spLocks noGrp="1"/>
          </p:cNvSpPr>
          <p:nvPr>
            <p:ph type="dt" sz="half" idx="10"/>
          </p:nvPr>
        </p:nvSpPr>
        <p:spPr/>
        <p:txBody>
          <a:bodyPr/>
          <a:lstStyle/>
          <a:p>
            <a:fld id="{83A3B3C2-409F-42DE-878B-CB34AF305F3F}" type="datetimeFigureOut">
              <a:rPr lang="en-IN" smtClean="0"/>
              <a:t>17-03-2026</a:t>
            </a:fld>
            <a:endParaRPr lang="en-IN"/>
          </a:p>
        </p:txBody>
      </p:sp>
      <p:sp>
        <p:nvSpPr>
          <p:cNvPr id="6" name="Footer Placeholder 5">
            <a:extLst>
              <a:ext uri="{FF2B5EF4-FFF2-40B4-BE49-F238E27FC236}">
                <a16:creationId xmlns:a16="http://schemas.microsoft.com/office/drawing/2014/main" id="{CDA4C87E-FC71-6C82-4863-C3F2354AE1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6BC7CC-9F6C-F012-C7BD-BE024278D7EA}"/>
              </a:ext>
            </a:extLst>
          </p:cNvPr>
          <p:cNvSpPr>
            <a:spLocks noGrp="1"/>
          </p:cNvSpPr>
          <p:nvPr>
            <p:ph type="sldNum" sz="quarter" idx="12"/>
          </p:nvPr>
        </p:nvSpPr>
        <p:spPr/>
        <p:txBody>
          <a:bodyPr/>
          <a:lstStyle/>
          <a:p>
            <a:fld id="{244F67F3-7013-4E74-A505-3CD513DAEBBC}" type="slidenum">
              <a:rPr lang="en-IN" smtClean="0"/>
              <a:t>‹#›</a:t>
            </a:fld>
            <a:endParaRPr lang="en-IN"/>
          </a:p>
        </p:txBody>
      </p:sp>
    </p:spTree>
    <p:extLst>
      <p:ext uri="{BB962C8B-B14F-4D97-AF65-F5344CB8AC3E}">
        <p14:creationId xmlns:p14="http://schemas.microsoft.com/office/powerpoint/2010/main" val="317689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CAA12-8F3C-6EB0-3718-B232EFA881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E17B443-2D55-FEFA-EC8B-C1AB38CDBE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F76AE61-4428-0D47-F247-85D4DA8084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4E3D84-73CF-E61C-9604-D6039A07B535}"/>
              </a:ext>
            </a:extLst>
          </p:cNvPr>
          <p:cNvSpPr>
            <a:spLocks noGrp="1"/>
          </p:cNvSpPr>
          <p:nvPr>
            <p:ph type="dt" sz="half" idx="10"/>
          </p:nvPr>
        </p:nvSpPr>
        <p:spPr/>
        <p:txBody>
          <a:bodyPr/>
          <a:lstStyle/>
          <a:p>
            <a:fld id="{83A3B3C2-409F-42DE-878B-CB34AF305F3F}" type="datetimeFigureOut">
              <a:rPr lang="en-IN" smtClean="0"/>
              <a:t>17-03-2026</a:t>
            </a:fld>
            <a:endParaRPr lang="en-IN"/>
          </a:p>
        </p:txBody>
      </p:sp>
      <p:sp>
        <p:nvSpPr>
          <p:cNvPr id="6" name="Footer Placeholder 5">
            <a:extLst>
              <a:ext uri="{FF2B5EF4-FFF2-40B4-BE49-F238E27FC236}">
                <a16:creationId xmlns:a16="http://schemas.microsoft.com/office/drawing/2014/main" id="{B8732104-624F-D1C0-9C14-E13FAF35942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96BE13-11FC-7619-9EB5-95822A4D4623}"/>
              </a:ext>
            </a:extLst>
          </p:cNvPr>
          <p:cNvSpPr>
            <a:spLocks noGrp="1"/>
          </p:cNvSpPr>
          <p:nvPr>
            <p:ph type="sldNum" sz="quarter" idx="12"/>
          </p:nvPr>
        </p:nvSpPr>
        <p:spPr/>
        <p:txBody>
          <a:bodyPr/>
          <a:lstStyle/>
          <a:p>
            <a:fld id="{244F67F3-7013-4E74-A505-3CD513DAEBBC}" type="slidenum">
              <a:rPr lang="en-IN" smtClean="0"/>
              <a:t>‹#›</a:t>
            </a:fld>
            <a:endParaRPr lang="en-IN"/>
          </a:p>
        </p:txBody>
      </p:sp>
    </p:spTree>
    <p:extLst>
      <p:ext uri="{BB962C8B-B14F-4D97-AF65-F5344CB8AC3E}">
        <p14:creationId xmlns:p14="http://schemas.microsoft.com/office/powerpoint/2010/main" val="3982394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2CB6F-F674-A70B-A948-25D93AEF11A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B08643F-D016-0B56-86F6-5BCA48CE3C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EA69CE-78B6-A2B7-FAC7-4C26058DDCE0}"/>
              </a:ext>
            </a:extLst>
          </p:cNvPr>
          <p:cNvSpPr>
            <a:spLocks noGrp="1"/>
          </p:cNvSpPr>
          <p:nvPr>
            <p:ph type="dt" sz="half" idx="10"/>
          </p:nvPr>
        </p:nvSpPr>
        <p:spPr/>
        <p:txBody>
          <a:bodyPr/>
          <a:lstStyle/>
          <a:p>
            <a:fld id="{83A3B3C2-409F-42DE-878B-CB34AF305F3F}" type="datetimeFigureOut">
              <a:rPr lang="en-IN" smtClean="0"/>
              <a:t>17-03-2026</a:t>
            </a:fld>
            <a:endParaRPr lang="en-IN"/>
          </a:p>
        </p:txBody>
      </p:sp>
      <p:sp>
        <p:nvSpPr>
          <p:cNvPr id="5" name="Footer Placeholder 4">
            <a:extLst>
              <a:ext uri="{FF2B5EF4-FFF2-40B4-BE49-F238E27FC236}">
                <a16:creationId xmlns:a16="http://schemas.microsoft.com/office/drawing/2014/main" id="{13E7FE61-B9ED-BA65-C64C-DA68A2AE61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32A164-6A2C-FA38-A1F5-FEEEB3B14BA1}"/>
              </a:ext>
            </a:extLst>
          </p:cNvPr>
          <p:cNvSpPr>
            <a:spLocks noGrp="1"/>
          </p:cNvSpPr>
          <p:nvPr>
            <p:ph type="sldNum" sz="quarter" idx="12"/>
          </p:nvPr>
        </p:nvSpPr>
        <p:spPr/>
        <p:txBody>
          <a:bodyPr/>
          <a:lstStyle/>
          <a:p>
            <a:fld id="{244F67F3-7013-4E74-A505-3CD513DAEBBC}" type="slidenum">
              <a:rPr lang="en-IN" smtClean="0"/>
              <a:t>‹#›</a:t>
            </a:fld>
            <a:endParaRPr lang="en-IN"/>
          </a:p>
        </p:txBody>
      </p:sp>
    </p:spTree>
    <p:extLst>
      <p:ext uri="{BB962C8B-B14F-4D97-AF65-F5344CB8AC3E}">
        <p14:creationId xmlns:p14="http://schemas.microsoft.com/office/powerpoint/2010/main" val="2393416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D11A58-3C2E-7FF4-B8A2-35BEDF87B14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380233-36C4-EE04-C06E-9B33350CF5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CF35C9-0601-A8B4-56A4-3CFAC99142C6}"/>
              </a:ext>
            </a:extLst>
          </p:cNvPr>
          <p:cNvSpPr>
            <a:spLocks noGrp="1"/>
          </p:cNvSpPr>
          <p:nvPr>
            <p:ph type="dt" sz="half" idx="10"/>
          </p:nvPr>
        </p:nvSpPr>
        <p:spPr/>
        <p:txBody>
          <a:bodyPr/>
          <a:lstStyle/>
          <a:p>
            <a:fld id="{83A3B3C2-409F-42DE-878B-CB34AF305F3F}" type="datetimeFigureOut">
              <a:rPr lang="en-IN" smtClean="0"/>
              <a:t>17-03-2026</a:t>
            </a:fld>
            <a:endParaRPr lang="en-IN"/>
          </a:p>
        </p:txBody>
      </p:sp>
      <p:sp>
        <p:nvSpPr>
          <p:cNvPr id="5" name="Footer Placeholder 4">
            <a:extLst>
              <a:ext uri="{FF2B5EF4-FFF2-40B4-BE49-F238E27FC236}">
                <a16:creationId xmlns:a16="http://schemas.microsoft.com/office/drawing/2014/main" id="{A3949CAD-9848-E2F1-9F7E-FA86E7C22B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D9E8AC-A86D-E734-4684-D053596A39C6}"/>
              </a:ext>
            </a:extLst>
          </p:cNvPr>
          <p:cNvSpPr>
            <a:spLocks noGrp="1"/>
          </p:cNvSpPr>
          <p:nvPr>
            <p:ph type="sldNum" sz="quarter" idx="12"/>
          </p:nvPr>
        </p:nvSpPr>
        <p:spPr/>
        <p:txBody>
          <a:bodyPr/>
          <a:lstStyle/>
          <a:p>
            <a:fld id="{244F67F3-7013-4E74-A505-3CD513DAEBBC}" type="slidenum">
              <a:rPr lang="en-IN" smtClean="0"/>
              <a:t>‹#›</a:t>
            </a:fld>
            <a:endParaRPr lang="en-IN"/>
          </a:p>
        </p:txBody>
      </p:sp>
    </p:spTree>
    <p:extLst>
      <p:ext uri="{BB962C8B-B14F-4D97-AF65-F5344CB8AC3E}">
        <p14:creationId xmlns:p14="http://schemas.microsoft.com/office/powerpoint/2010/main" val="909974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54A4D6-005A-6CBF-EB55-8C97C9DC6C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19B906E-A0D5-4522-CB2C-9CC3246C81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59ADE7-C625-DA83-EA9A-7EDD8912F1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A3B3C2-409F-42DE-878B-CB34AF305F3F}" type="datetimeFigureOut">
              <a:rPr lang="en-IN" smtClean="0"/>
              <a:t>17-03-2026</a:t>
            </a:fld>
            <a:endParaRPr lang="en-IN"/>
          </a:p>
        </p:txBody>
      </p:sp>
      <p:sp>
        <p:nvSpPr>
          <p:cNvPr id="5" name="Footer Placeholder 4">
            <a:extLst>
              <a:ext uri="{FF2B5EF4-FFF2-40B4-BE49-F238E27FC236}">
                <a16:creationId xmlns:a16="http://schemas.microsoft.com/office/drawing/2014/main" id="{2366544D-AE58-C07E-0CED-ABD03239F2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F375BA1-462C-C86F-05DE-C53C9A5718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4F67F3-7013-4E74-A505-3CD513DAEBBC}" type="slidenum">
              <a:rPr lang="en-IN" smtClean="0"/>
              <a:t>‹#›</a:t>
            </a:fld>
            <a:endParaRPr lang="en-IN"/>
          </a:p>
        </p:txBody>
      </p:sp>
    </p:spTree>
    <p:extLst>
      <p:ext uri="{BB962C8B-B14F-4D97-AF65-F5344CB8AC3E}">
        <p14:creationId xmlns:p14="http://schemas.microsoft.com/office/powerpoint/2010/main" val="4128300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B4CA41-E6DB-B22A-9139-5F4019D26504}"/>
              </a:ext>
            </a:extLst>
          </p:cNvPr>
          <p:cNvSpPr>
            <a:spLocks noGrp="1"/>
          </p:cNvSpPr>
          <p:nvPr>
            <p:ph type="ctrTitle"/>
          </p:nvPr>
        </p:nvSpPr>
        <p:spPr>
          <a:xfrm>
            <a:off x="-3048" y="1592324"/>
            <a:ext cx="6640202" cy="3324674"/>
          </a:xfrm>
        </p:spPr>
        <p:txBody>
          <a:bodyPr>
            <a:normAutofit fontScale="90000"/>
          </a:bodyPr>
          <a:lstStyle/>
          <a:p>
            <a:r>
              <a:rPr lang="en-US" sz="4400" b="1" dirty="0"/>
              <a:t>AI-Powered Supply Chain Risk Intelligence System</a:t>
            </a:r>
            <a:br>
              <a:rPr lang="en-US" sz="4400" dirty="0"/>
            </a:br>
            <a:br>
              <a:rPr lang="en-US" sz="4400" dirty="0"/>
            </a:br>
            <a:br>
              <a:rPr lang="en-US" sz="4400" dirty="0"/>
            </a:br>
            <a:r>
              <a:rPr lang="en-US" sz="2700" b="1" dirty="0"/>
              <a:t>Predictive Analytics + ML Project  (Predictive AI)</a:t>
            </a:r>
            <a:br>
              <a:rPr lang="en-US" sz="2700" dirty="0"/>
            </a:br>
            <a:br>
              <a:rPr lang="en-US" sz="2700" dirty="0"/>
            </a:br>
            <a:r>
              <a:rPr lang="en-US" sz="2700" b="1" dirty="0"/>
              <a:t>End-to-End Data + AI Platform</a:t>
            </a:r>
            <a:endParaRPr lang="en-IN" sz="2700" dirty="0"/>
          </a:p>
        </p:txBody>
      </p:sp>
      <p:sp>
        <p:nvSpPr>
          <p:cNvPr id="3" name="Subtitle 2">
            <a:extLst>
              <a:ext uri="{FF2B5EF4-FFF2-40B4-BE49-F238E27FC236}">
                <a16:creationId xmlns:a16="http://schemas.microsoft.com/office/drawing/2014/main" id="{CBBAB245-FD13-2473-17EE-5425F9495DA0}"/>
              </a:ext>
            </a:extLst>
          </p:cNvPr>
          <p:cNvSpPr>
            <a:spLocks noGrp="1"/>
          </p:cNvSpPr>
          <p:nvPr>
            <p:ph type="subTitle" idx="1"/>
          </p:nvPr>
        </p:nvSpPr>
        <p:spPr>
          <a:xfrm>
            <a:off x="154726" y="5659825"/>
            <a:ext cx="2903784" cy="1039736"/>
          </a:xfrm>
        </p:spPr>
        <p:txBody>
          <a:bodyPr>
            <a:normAutofit fontScale="32500" lnSpcReduction="20000"/>
          </a:bodyPr>
          <a:lstStyle/>
          <a:p>
            <a:pPr algn="l"/>
            <a:r>
              <a:rPr lang="en-US" sz="4900" b="1" dirty="0">
                <a:solidFill>
                  <a:schemeClr val="accent3">
                    <a:lumMod val="75000"/>
                  </a:schemeClr>
                </a:solidFill>
                <a:latin typeface="+mj-lt"/>
                <a:ea typeface="Arial" pitchFamily="34" charset="-122"/>
                <a:cs typeface="Arial" pitchFamily="34" charset="-120"/>
              </a:rPr>
              <a:t>Engineered by: PARVEEN PATEL</a:t>
            </a:r>
          </a:p>
          <a:p>
            <a:pPr algn="l"/>
            <a:endParaRPr lang="en-US" sz="4900" b="1" dirty="0">
              <a:solidFill>
                <a:schemeClr val="accent3">
                  <a:lumMod val="75000"/>
                </a:schemeClr>
              </a:solidFill>
              <a:latin typeface="Amasis MT Pro Medium" panose="020F0502020204030204" pitchFamily="18" charset="0"/>
              <a:cs typeface="Arial" pitchFamily="34" charset="-120"/>
            </a:endParaRPr>
          </a:p>
          <a:p>
            <a:pPr algn="l"/>
            <a:r>
              <a:rPr lang="en-US" sz="4900" b="1" dirty="0">
                <a:solidFill>
                  <a:schemeClr val="accent3">
                    <a:lumMod val="75000"/>
                  </a:schemeClr>
                </a:solidFill>
                <a:latin typeface="+mj-lt"/>
                <a:cs typeface="Arial" pitchFamily="34" charset="-120"/>
              </a:rPr>
              <a:t>Role: Data Enthusiast</a:t>
            </a:r>
            <a:endParaRPr lang="en-US" sz="4900" b="1" dirty="0">
              <a:solidFill>
                <a:schemeClr val="accent3">
                  <a:lumMod val="75000"/>
                </a:schemeClr>
              </a:solidFill>
              <a:latin typeface="+mj-lt"/>
            </a:endParaRPr>
          </a:p>
          <a:p>
            <a:pPr algn="l"/>
            <a:endParaRPr lang="en-IN" dirty="0"/>
          </a:p>
        </p:txBody>
      </p:sp>
      <p:pic>
        <p:nvPicPr>
          <p:cNvPr id="5" name="Picture 4">
            <a:extLst>
              <a:ext uri="{FF2B5EF4-FFF2-40B4-BE49-F238E27FC236}">
                <a16:creationId xmlns:a16="http://schemas.microsoft.com/office/drawing/2014/main" id="{56EB7BB1-7552-8B85-E9C9-A71E2ABF3B0F}"/>
              </a:ext>
            </a:extLst>
          </p:cNvPr>
          <p:cNvPicPr>
            <a:picLocks noChangeAspect="1"/>
          </p:cNvPicPr>
          <p:nvPr/>
        </p:nvPicPr>
        <p:blipFill>
          <a:blip r:embed="rId2">
            <a:extLst>
              <a:ext uri="{28A0092B-C50C-407E-A947-70E740481C1C}">
                <a14:useLocalDpi xmlns:a14="http://schemas.microsoft.com/office/drawing/2010/main" val="0"/>
              </a:ext>
            </a:extLst>
          </a:blip>
          <a:srcRect l="11700" r="157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pic>
        <p:nvPicPr>
          <p:cNvPr id="1026" name="Picture 2" descr="Indian Data Club | Home">
            <a:extLst>
              <a:ext uri="{FF2B5EF4-FFF2-40B4-BE49-F238E27FC236}">
                <a16:creationId xmlns:a16="http://schemas.microsoft.com/office/drawing/2014/main" id="{015773EA-8251-6E4A-9A56-37813B776D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76" y="34178"/>
            <a:ext cx="1213200" cy="12132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odebasics - YouTube">
            <a:extLst>
              <a:ext uri="{FF2B5EF4-FFF2-40B4-BE49-F238E27FC236}">
                <a16:creationId xmlns:a16="http://schemas.microsoft.com/office/drawing/2014/main" id="{5B8E931F-2DEC-B572-15FE-929DBD7288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6630" y="109576"/>
            <a:ext cx="1382411" cy="110477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Official Databricks Partner - Infinitive">
            <a:extLst>
              <a:ext uri="{FF2B5EF4-FFF2-40B4-BE49-F238E27FC236}">
                <a16:creationId xmlns:a16="http://schemas.microsoft.com/office/drawing/2014/main" id="{3AD0BE13-20DA-6768-0C4A-F7521E2E50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1086" y="125343"/>
            <a:ext cx="1382400" cy="1104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7566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AE64E-AF0D-FAC5-25C4-19111447F0F0}"/>
              </a:ext>
            </a:extLst>
          </p:cNvPr>
          <p:cNvSpPr>
            <a:spLocks noGrp="1"/>
          </p:cNvSpPr>
          <p:nvPr>
            <p:ph type="title"/>
          </p:nvPr>
        </p:nvSpPr>
        <p:spPr/>
        <p:txBody>
          <a:bodyPr/>
          <a:lstStyle/>
          <a:p>
            <a:pPr algn="ctr"/>
            <a:r>
              <a:rPr lang="en-IN" dirty="0"/>
              <a:t>Problem Definition &amp; AI Framing</a:t>
            </a:r>
          </a:p>
        </p:txBody>
      </p:sp>
      <p:sp>
        <p:nvSpPr>
          <p:cNvPr id="3" name="Content Placeholder 2">
            <a:extLst>
              <a:ext uri="{FF2B5EF4-FFF2-40B4-BE49-F238E27FC236}">
                <a16:creationId xmlns:a16="http://schemas.microsoft.com/office/drawing/2014/main" id="{EFB7A166-6979-1A49-9807-7CB18AA91362}"/>
              </a:ext>
            </a:extLst>
          </p:cNvPr>
          <p:cNvSpPr>
            <a:spLocks noGrp="1"/>
          </p:cNvSpPr>
          <p:nvPr>
            <p:ph idx="1"/>
          </p:nvPr>
        </p:nvSpPr>
        <p:spPr/>
        <p:txBody>
          <a:bodyPr/>
          <a:lstStyle/>
          <a:p>
            <a:pPr>
              <a:lnSpc>
                <a:spcPct val="100000"/>
              </a:lnSpc>
            </a:pPr>
            <a:r>
              <a:rPr lang="en-US" sz="2400" dirty="0">
                <a:latin typeface="Arial" panose="020B0604020202020204" pitchFamily="34" charset="0"/>
                <a:cs typeface="Arial" panose="020B0604020202020204" pitchFamily="34" charset="0"/>
              </a:rPr>
              <a:t>In modern supply chain operations, shipment delays are a major challenge that directly impact customer satisfaction, operational efficiency, and overall business cost. Delays can occur due to multiple interacting factors such as shipment mode, warehouse efficiency, product characteristics, and external conditions like weather.</a:t>
            </a:r>
          </a:p>
          <a:p>
            <a:pPr marL="0" indent="0">
              <a:lnSpc>
                <a:spcPct val="100000"/>
              </a:lnSpc>
              <a:buNone/>
            </a:pPr>
            <a:endParaRPr lang="en-US" sz="2400" dirty="0">
              <a:latin typeface="Arial" panose="020B0604020202020204" pitchFamily="34" charset="0"/>
              <a:cs typeface="Arial" panose="020B0604020202020204" pitchFamily="34" charset="0"/>
            </a:endParaRPr>
          </a:p>
          <a:p>
            <a:pPr>
              <a:lnSpc>
                <a:spcPct val="100000"/>
              </a:lnSpc>
            </a:pPr>
            <a:r>
              <a:rPr lang="en-US" sz="2400" dirty="0">
                <a:latin typeface="Arial" panose="020B0604020202020204" pitchFamily="34" charset="0"/>
                <a:cs typeface="Arial" panose="020B0604020202020204" pitchFamily="34" charset="0"/>
              </a:rPr>
              <a:t>The objective of this project is to </a:t>
            </a:r>
            <a:r>
              <a:rPr lang="en-US" sz="2400" b="1" dirty="0">
                <a:latin typeface="Arial" panose="020B0604020202020204" pitchFamily="34" charset="0"/>
                <a:cs typeface="Arial" panose="020B0604020202020204" pitchFamily="34" charset="0"/>
              </a:rPr>
              <a:t>predict whether a shipment will be delayed or not</a:t>
            </a:r>
            <a:r>
              <a:rPr lang="en-US" sz="2400" dirty="0">
                <a:latin typeface="Arial" panose="020B0604020202020204" pitchFamily="34" charset="0"/>
                <a:cs typeface="Arial" panose="020B0604020202020204" pitchFamily="34" charset="0"/>
              </a:rPr>
              <a:t>, making it a </a:t>
            </a:r>
            <a:r>
              <a:rPr lang="en-US" sz="2400" b="1" dirty="0">
                <a:latin typeface="Arial" panose="020B0604020202020204" pitchFamily="34" charset="0"/>
                <a:cs typeface="Arial" panose="020B0604020202020204" pitchFamily="34" charset="0"/>
              </a:rPr>
              <a:t>binary classification problem</a:t>
            </a:r>
            <a:r>
              <a:rPr lang="en-US" sz="2400" dirty="0">
                <a:latin typeface="Arial" panose="020B0604020202020204" pitchFamily="34" charset="0"/>
                <a:cs typeface="Arial" panose="020B0604020202020204" pitchFamily="34" charset="0"/>
              </a:rPr>
              <a:t>. The system takes structured shipment data as input and produces a delay risk prediction as output.</a:t>
            </a:r>
          </a:p>
          <a:p>
            <a:endParaRPr lang="en-IN" dirty="0"/>
          </a:p>
        </p:txBody>
      </p:sp>
    </p:spTree>
    <p:extLst>
      <p:ext uri="{BB962C8B-B14F-4D97-AF65-F5344CB8AC3E}">
        <p14:creationId xmlns:p14="http://schemas.microsoft.com/office/powerpoint/2010/main" val="473413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5FFA33-85C1-67C9-1D61-08BF35BA83E3}"/>
              </a:ext>
            </a:extLst>
          </p:cNvPr>
          <p:cNvSpPr>
            <a:spLocks noGrp="1"/>
          </p:cNvSpPr>
          <p:nvPr>
            <p:ph idx="1"/>
          </p:nvPr>
        </p:nvSpPr>
        <p:spPr>
          <a:xfrm>
            <a:off x="869729" y="520269"/>
            <a:ext cx="10528739" cy="6006655"/>
          </a:xfrm>
        </p:spPr>
        <p:txBody>
          <a:bodyPr>
            <a:normAutofit fontScale="92500" lnSpcReduction="10000"/>
          </a:bodyPr>
          <a:lstStyle/>
          <a:p>
            <a:pPr marL="0" indent="0">
              <a:lnSpc>
                <a:spcPct val="110000"/>
              </a:lnSpc>
              <a:buNone/>
            </a:pPr>
            <a:r>
              <a:rPr lang="en-US" sz="2400" dirty="0">
                <a:latin typeface="Arial" panose="020B0604020202020204" pitchFamily="34" charset="0"/>
                <a:cs typeface="Arial" panose="020B0604020202020204" pitchFamily="34" charset="0"/>
              </a:rPr>
              <a:t>Traditional rule-based systems are not sufficient here because:</a:t>
            </a:r>
          </a:p>
          <a:p>
            <a:pPr>
              <a:lnSpc>
                <a:spcPct val="110000"/>
              </a:lnSpc>
            </a:pPr>
            <a:r>
              <a:rPr lang="en-US" sz="2400" dirty="0">
                <a:latin typeface="Arial" panose="020B0604020202020204" pitchFamily="34" charset="0"/>
                <a:cs typeface="Arial" panose="020B0604020202020204" pitchFamily="34" charset="0"/>
              </a:rPr>
              <a:t>They cannot capture complex interactions between variables.</a:t>
            </a:r>
          </a:p>
          <a:p>
            <a:pPr>
              <a:lnSpc>
                <a:spcPct val="110000"/>
              </a:lnSpc>
            </a:pPr>
            <a:r>
              <a:rPr lang="en-US" sz="2400" dirty="0">
                <a:latin typeface="Arial" panose="020B0604020202020204" pitchFamily="34" charset="0"/>
                <a:cs typeface="Arial" panose="020B0604020202020204" pitchFamily="34" charset="0"/>
              </a:rPr>
              <a:t>They fail to adapt to changing patterns.</a:t>
            </a:r>
          </a:p>
          <a:p>
            <a:pPr>
              <a:lnSpc>
                <a:spcPct val="110000"/>
              </a:lnSpc>
            </a:pPr>
            <a:r>
              <a:rPr lang="en-US" sz="2400" dirty="0">
                <a:latin typeface="Arial" panose="020B0604020202020204" pitchFamily="34" charset="0"/>
                <a:cs typeface="Arial" panose="020B0604020202020204" pitchFamily="34" charset="0"/>
              </a:rPr>
              <a:t>They lack scalability and predictive capability.</a:t>
            </a:r>
          </a:p>
          <a:p>
            <a:pPr marL="0" indent="0">
              <a:lnSpc>
                <a:spcPct val="110000"/>
              </a:lnSpc>
              <a:buNone/>
            </a:pPr>
            <a:r>
              <a:rPr lang="en-US" sz="2400" dirty="0">
                <a:latin typeface="Arial" panose="020B0604020202020204" pitchFamily="34" charset="0"/>
                <a:cs typeface="Arial" panose="020B0604020202020204" pitchFamily="34" charset="0"/>
              </a:rPr>
              <a:t>This is why a machine learning approach is used.</a:t>
            </a:r>
          </a:p>
          <a:p>
            <a:pPr marL="0" indent="0">
              <a:lnSpc>
                <a:spcPct val="110000"/>
              </a:lnSpc>
              <a:buNone/>
            </a:pPr>
            <a:endParaRPr lang="en-US" sz="2400" dirty="0">
              <a:latin typeface="Arial" panose="020B0604020202020204" pitchFamily="34" charset="0"/>
              <a:cs typeface="Arial" panose="020B0604020202020204" pitchFamily="34" charset="0"/>
            </a:endParaRPr>
          </a:p>
          <a:p>
            <a:pPr marL="0" indent="0">
              <a:lnSpc>
                <a:spcPct val="110000"/>
              </a:lnSpc>
              <a:buNone/>
            </a:pPr>
            <a:r>
              <a:rPr lang="en-US" sz="2400" dirty="0">
                <a:latin typeface="Arial" panose="020B0604020202020204" pitchFamily="34" charset="0"/>
                <a:cs typeface="Arial" panose="020B0604020202020204" pitchFamily="34" charset="0"/>
              </a:rPr>
              <a:t>The success criteria for this system include:</a:t>
            </a:r>
          </a:p>
          <a:p>
            <a:pPr>
              <a:lnSpc>
                <a:spcPct val="110000"/>
              </a:lnSpc>
            </a:pPr>
            <a:r>
              <a:rPr lang="en-US" sz="2400" dirty="0">
                <a:latin typeface="Arial" panose="020B0604020202020204" pitchFamily="34" charset="0"/>
                <a:cs typeface="Arial" panose="020B0604020202020204" pitchFamily="34" charset="0"/>
              </a:rPr>
              <a:t>Achieving a reliable prediction performance. (AUC ~0.74 achieved)</a:t>
            </a:r>
          </a:p>
          <a:p>
            <a:pPr>
              <a:lnSpc>
                <a:spcPct val="110000"/>
              </a:lnSpc>
            </a:pPr>
            <a:r>
              <a:rPr lang="en-US" sz="2400" dirty="0">
                <a:latin typeface="Arial" panose="020B0604020202020204" pitchFamily="34" charset="0"/>
                <a:cs typeface="Arial" panose="020B0604020202020204" pitchFamily="34" charset="0"/>
              </a:rPr>
              <a:t>Generating actionable insights for business users.</a:t>
            </a:r>
          </a:p>
          <a:p>
            <a:pPr>
              <a:lnSpc>
                <a:spcPct val="110000"/>
              </a:lnSpc>
            </a:pPr>
            <a:r>
              <a:rPr lang="en-US" sz="2400" dirty="0">
                <a:latin typeface="Arial" panose="020B0604020202020204" pitchFamily="34" charset="0"/>
                <a:cs typeface="Arial" panose="020B0604020202020204" pitchFamily="34" charset="0"/>
              </a:rPr>
              <a:t>Identifying high-risk shipments proactively.</a:t>
            </a:r>
          </a:p>
          <a:p>
            <a:pPr marL="0" indent="0">
              <a:lnSpc>
                <a:spcPct val="110000"/>
              </a:lnSpc>
              <a:buNone/>
            </a:pPr>
            <a:endParaRPr lang="en-US" sz="2400" dirty="0">
              <a:latin typeface="Arial" panose="020B0604020202020204" pitchFamily="34" charset="0"/>
              <a:cs typeface="Arial" panose="020B0604020202020204" pitchFamily="34" charset="0"/>
            </a:endParaRPr>
          </a:p>
          <a:p>
            <a:pPr marL="0" indent="0">
              <a:lnSpc>
                <a:spcPct val="110000"/>
              </a:lnSpc>
              <a:buNone/>
            </a:pPr>
            <a:r>
              <a:rPr lang="en-US" sz="2400" dirty="0">
                <a:latin typeface="Arial" panose="020B0604020202020204" pitchFamily="34" charset="0"/>
                <a:cs typeface="Arial" panose="020B0604020202020204" pitchFamily="34" charset="0"/>
              </a:rPr>
              <a:t>This problem is highly relevant in real-world logistics and operations, making it a practical and impactful AI use case.</a:t>
            </a:r>
          </a:p>
          <a:p>
            <a:endParaRPr lang="en-IN" dirty="0"/>
          </a:p>
        </p:txBody>
      </p:sp>
    </p:spTree>
    <p:extLst>
      <p:ext uri="{BB962C8B-B14F-4D97-AF65-F5344CB8AC3E}">
        <p14:creationId xmlns:p14="http://schemas.microsoft.com/office/powerpoint/2010/main" val="4046567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15573-6B24-5650-BBDD-E792973D07CD}"/>
              </a:ext>
            </a:extLst>
          </p:cNvPr>
          <p:cNvSpPr>
            <a:spLocks noGrp="1"/>
          </p:cNvSpPr>
          <p:nvPr>
            <p:ph type="title"/>
          </p:nvPr>
        </p:nvSpPr>
        <p:spPr>
          <a:xfrm>
            <a:off x="759370" y="516763"/>
            <a:ext cx="10515600" cy="643868"/>
          </a:xfrm>
        </p:spPr>
        <p:txBody>
          <a:bodyPr>
            <a:normAutofit fontScale="90000"/>
          </a:bodyPr>
          <a:lstStyle/>
          <a:p>
            <a:pPr algn="ctr"/>
            <a:r>
              <a:rPr lang="en-IN" dirty="0"/>
              <a:t>Dataset Overview</a:t>
            </a:r>
          </a:p>
        </p:txBody>
      </p:sp>
      <p:sp>
        <p:nvSpPr>
          <p:cNvPr id="3" name="Content Placeholder 2">
            <a:extLst>
              <a:ext uri="{FF2B5EF4-FFF2-40B4-BE49-F238E27FC236}">
                <a16:creationId xmlns:a16="http://schemas.microsoft.com/office/drawing/2014/main" id="{0623359D-70CE-D1C7-EA32-AED522E66E9D}"/>
              </a:ext>
            </a:extLst>
          </p:cNvPr>
          <p:cNvSpPr>
            <a:spLocks noGrp="1"/>
          </p:cNvSpPr>
          <p:nvPr>
            <p:ph idx="1"/>
          </p:nvPr>
        </p:nvSpPr>
        <p:spPr>
          <a:xfrm>
            <a:off x="409903" y="1608083"/>
            <a:ext cx="11461531" cy="5092262"/>
          </a:xfrm>
        </p:spPr>
        <p:txBody>
          <a:bodyPr>
            <a:noAutofit/>
          </a:bodyPr>
          <a:lstStyle/>
          <a:p>
            <a:pPr>
              <a:lnSpc>
                <a:spcPct val="100000"/>
              </a:lnSpc>
            </a:pPr>
            <a:r>
              <a:rPr lang="en-US" sz="2400" dirty="0">
                <a:latin typeface="Arial" panose="020B0604020202020204" pitchFamily="34" charset="0"/>
                <a:cs typeface="Arial" panose="020B0604020202020204" pitchFamily="34" charset="0"/>
              </a:rPr>
              <a:t>The primary dataset is an </a:t>
            </a:r>
            <a:r>
              <a:rPr lang="en-US" sz="2400" b="1" dirty="0">
                <a:latin typeface="Arial" panose="020B0604020202020204" pitchFamily="34" charset="0"/>
                <a:cs typeface="Arial" panose="020B0604020202020204" pitchFamily="34" charset="0"/>
              </a:rPr>
              <a:t>E-commerce Shipping Dataset</a:t>
            </a:r>
            <a:r>
              <a:rPr lang="en-US" sz="2400" dirty="0">
                <a:latin typeface="Arial" panose="020B0604020202020204" pitchFamily="34" charset="0"/>
                <a:cs typeface="Arial" panose="020B0604020202020204" pitchFamily="34" charset="0"/>
              </a:rPr>
              <a:t> consisting of 10,999 records and 12 variables. It contains detailed shipment-level information including customer behavior, product characteristics, and logistics details.</a:t>
            </a:r>
          </a:p>
          <a:p>
            <a:pPr>
              <a:lnSpc>
                <a:spcPct val="100000"/>
              </a:lnSpc>
            </a:pPr>
            <a:r>
              <a:rPr lang="en-US" sz="2400" dirty="0">
                <a:latin typeface="Arial" panose="020B0604020202020204" pitchFamily="34" charset="0"/>
                <a:cs typeface="Arial" panose="020B0604020202020204" pitchFamily="34" charset="0"/>
              </a:rPr>
              <a:t>The key target variable is whether the shipment was delivered on time or delayed, making it suitable for a classification problem.</a:t>
            </a:r>
          </a:p>
          <a:p>
            <a:pPr>
              <a:lnSpc>
                <a:spcPct val="100000"/>
              </a:lnSpc>
            </a:pPr>
            <a:r>
              <a:rPr lang="en-US" sz="2400" dirty="0">
                <a:latin typeface="Arial" panose="020B0604020202020204" pitchFamily="34" charset="0"/>
                <a:cs typeface="Arial" panose="020B0604020202020204" pitchFamily="34" charset="0"/>
              </a:rPr>
              <a:t>To enhance the analytical depth, a second dataset - </a:t>
            </a:r>
            <a:r>
              <a:rPr lang="en-US" sz="2400" b="1" dirty="0">
                <a:latin typeface="Arial" panose="020B0604020202020204" pitchFamily="34" charset="0"/>
                <a:cs typeface="Arial" panose="020B0604020202020204" pitchFamily="34" charset="0"/>
              </a:rPr>
              <a:t>Historical Weather Data</a:t>
            </a:r>
            <a:r>
              <a:rPr lang="en-US" sz="2400" dirty="0">
                <a:latin typeface="Arial" panose="020B0604020202020204" pitchFamily="34" charset="0"/>
                <a:cs typeface="Arial" panose="020B0604020202020204" pitchFamily="34" charset="0"/>
              </a:rPr>
              <a:t> was incorporated. This dataset includes hourly weather observations such as temperature, humidity, and pressure across multiple cities over several years.</a:t>
            </a:r>
          </a:p>
          <a:p>
            <a:pPr>
              <a:lnSpc>
                <a:spcPct val="100000"/>
              </a:lnSpc>
            </a:pPr>
            <a:r>
              <a:rPr lang="en-US" sz="2400" dirty="0">
                <a:latin typeface="Arial" panose="020B0604020202020204" pitchFamily="34" charset="0"/>
                <a:cs typeface="Arial" panose="020B0604020202020204" pitchFamily="34" charset="0"/>
              </a:rPr>
              <a:t>The goal of combining these datasets is to simulate both </a:t>
            </a:r>
            <a:r>
              <a:rPr lang="en-US" sz="2400" b="1" dirty="0">
                <a:latin typeface="Arial" panose="020B0604020202020204" pitchFamily="34" charset="0"/>
                <a:cs typeface="Arial" panose="020B0604020202020204" pitchFamily="34" charset="0"/>
              </a:rPr>
              <a:t>internal operational factors and external environmental risks</a:t>
            </a:r>
            <a:r>
              <a:rPr lang="en-US" sz="2400" dirty="0">
                <a:latin typeface="Arial" panose="020B0604020202020204" pitchFamily="34" charset="0"/>
                <a:cs typeface="Arial" panose="020B0604020202020204" pitchFamily="34" charset="0"/>
              </a:rPr>
              <a:t>, which are critical in real-world supply chain analytics</a:t>
            </a:r>
            <a:r>
              <a:rPr lang="en-IN" sz="2400" dirty="0">
                <a:latin typeface="Arial" panose="020B0604020202020204" pitchFamily="34" charset="0"/>
                <a:cs typeface="Arial" panose="020B0604020202020204" pitchFamily="34" charset="0"/>
              </a:rPr>
              <a:t>.</a:t>
            </a:r>
            <a:endParaRPr lang="en-US" sz="2400" dirty="0"/>
          </a:p>
        </p:txBody>
      </p:sp>
    </p:spTree>
    <p:extLst>
      <p:ext uri="{BB962C8B-B14F-4D97-AF65-F5344CB8AC3E}">
        <p14:creationId xmlns:p14="http://schemas.microsoft.com/office/powerpoint/2010/main" val="26622225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54E83B-675D-1AA5-2A09-307042567B74}"/>
              </a:ext>
            </a:extLst>
          </p:cNvPr>
          <p:cNvSpPr>
            <a:spLocks noGrp="1"/>
          </p:cNvSpPr>
          <p:nvPr>
            <p:ph idx="1"/>
          </p:nvPr>
        </p:nvSpPr>
        <p:spPr>
          <a:xfrm>
            <a:off x="378373" y="425672"/>
            <a:ext cx="11556124" cy="5943600"/>
          </a:xfrm>
        </p:spPr>
        <p:txBody>
          <a:bodyPr>
            <a:noAutofit/>
          </a:bodyPr>
          <a:lstStyle/>
          <a:p>
            <a:pPr marL="0" indent="0">
              <a:lnSpc>
                <a:spcPct val="110000"/>
              </a:lnSpc>
              <a:buNone/>
            </a:pPr>
            <a:r>
              <a:rPr lang="en-US" sz="2200" dirty="0">
                <a:latin typeface="Arial" panose="020B0604020202020204" pitchFamily="34" charset="0"/>
                <a:cs typeface="Arial" panose="020B0604020202020204" pitchFamily="34" charset="0"/>
              </a:rPr>
              <a:t>This project combines internal shipment data with external environmental signals to create a more realistic and intelligent risk prediction system.</a:t>
            </a:r>
          </a:p>
          <a:p>
            <a:pPr marL="0" indent="0">
              <a:lnSpc>
                <a:spcPct val="110000"/>
              </a:lnSpc>
              <a:buNone/>
            </a:pPr>
            <a:r>
              <a:rPr lang="en-US" sz="2200" dirty="0">
                <a:latin typeface="Arial" panose="020B0604020202020204" pitchFamily="34" charset="0"/>
                <a:cs typeface="Arial" panose="020B0604020202020204" pitchFamily="34" charset="0"/>
              </a:rPr>
              <a:t>The datasets were originally available in multiple CSV formats.</a:t>
            </a:r>
          </a:p>
          <a:p>
            <a:pPr marL="0" indent="0">
              <a:lnSpc>
                <a:spcPct val="110000"/>
              </a:lnSpc>
              <a:buNone/>
            </a:pPr>
            <a:r>
              <a:rPr lang="en-US" sz="2200" dirty="0">
                <a:latin typeface="Arial" panose="020B0604020202020204" pitchFamily="34" charset="0"/>
                <a:cs typeface="Arial" panose="020B0604020202020204" pitchFamily="34" charset="0"/>
              </a:rPr>
              <a:t>The weather dataset consisted of separate files for each attribute (temperature, humidity, pressure, etc.), organized across time and cities.</a:t>
            </a:r>
          </a:p>
          <a:p>
            <a:pPr marL="0" indent="0">
              <a:lnSpc>
                <a:spcPct val="110000"/>
              </a:lnSpc>
              <a:buNone/>
            </a:pPr>
            <a:endParaRPr lang="en-US" sz="2200" dirty="0">
              <a:latin typeface="Arial" panose="020B0604020202020204" pitchFamily="34" charset="0"/>
              <a:cs typeface="Arial" panose="020B0604020202020204" pitchFamily="34" charset="0"/>
            </a:endParaRPr>
          </a:p>
          <a:p>
            <a:pPr marL="0" indent="0">
              <a:lnSpc>
                <a:spcPct val="110000"/>
              </a:lnSpc>
              <a:buNone/>
            </a:pPr>
            <a:r>
              <a:rPr lang="en-US" sz="2200" dirty="0">
                <a:latin typeface="Arial" panose="020B0604020202020204" pitchFamily="34" charset="0"/>
                <a:cs typeface="Arial" panose="020B0604020202020204" pitchFamily="34" charset="0"/>
              </a:rPr>
              <a:t>To prepare the data for analysis:</a:t>
            </a:r>
          </a:p>
          <a:p>
            <a:pPr>
              <a:lnSpc>
                <a:spcPct val="110000"/>
              </a:lnSpc>
            </a:pPr>
            <a:r>
              <a:rPr lang="en-US" sz="2200" dirty="0">
                <a:latin typeface="Arial" panose="020B0604020202020204" pitchFamily="34" charset="0"/>
                <a:cs typeface="Arial" panose="020B0604020202020204" pitchFamily="34" charset="0"/>
              </a:rPr>
              <a:t>Multiple CSV files were ingested into the system.</a:t>
            </a:r>
          </a:p>
          <a:p>
            <a:pPr>
              <a:lnSpc>
                <a:spcPct val="110000"/>
              </a:lnSpc>
            </a:pPr>
            <a:r>
              <a:rPr lang="en-US" sz="2200" dirty="0">
                <a:latin typeface="Arial" panose="020B0604020202020204" pitchFamily="34" charset="0"/>
                <a:cs typeface="Arial" panose="020B0604020202020204" pitchFamily="34" charset="0"/>
              </a:rPr>
              <a:t>Data was standardized into a unified schema.</a:t>
            </a:r>
          </a:p>
          <a:p>
            <a:pPr>
              <a:lnSpc>
                <a:spcPct val="110000"/>
              </a:lnSpc>
            </a:pPr>
            <a:r>
              <a:rPr lang="en-US" sz="2200" dirty="0">
                <a:latin typeface="Arial" panose="020B0604020202020204" pitchFamily="34" charset="0"/>
                <a:cs typeface="Arial" panose="020B0604020202020204" pitchFamily="34" charset="0"/>
              </a:rPr>
              <a:t>Time-based alignment was ensured.</a:t>
            </a:r>
          </a:p>
          <a:p>
            <a:pPr>
              <a:lnSpc>
                <a:spcPct val="110000"/>
              </a:lnSpc>
            </a:pPr>
            <a:r>
              <a:rPr lang="en-US" sz="2200" dirty="0">
                <a:latin typeface="Arial" panose="020B0604020202020204" pitchFamily="34" charset="0"/>
                <a:cs typeface="Arial" panose="020B0604020202020204" pitchFamily="34" charset="0"/>
              </a:rPr>
              <a:t>Structured tables were created for downstream processing.</a:t>
            </a:r>
          </a:p>
          <a:p>
            <a:pPr>
              <a:lnSpc>
                <a:spcPct val="110000"/>
              </a:lnSpc>
            </a:pPr>
            <a:r>
              <a:rPr lang="en-US" sz="2200" dirty="0">
                <a:latin typeface="Arial" panose="020B0604020202020204" pitchFamily="34" charset="0"/>
                <a:cs typeface="Arial" panose="020B0604020202020204" pitchFamily="34" charset="0"/>
              </a:rPr>
              <a:t>This step reflects real-world data engineering challenges, where data is fragmented and requires transformation before it can be used for analytics or machine learning.</a:t>
            </a:r>
          </a:p>
          <a:p>
            <a:endParaRPr lang="en-IN" sz="2200" dirty="0"/>
          </a:p>
        </p:txBody>
      </p:sp>
    </p:spTree>
    <p:extLst>
      <p:ext uri="{BB962C8B-B14F-4D97-AF65-F5344CB8AC3E}">
        <p14:creationId xmlns:p14="http://schemas.microsoft.com/office/powerpoint/2010/main" val="2477368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EC6E9-8641-4E34-2B40-9ED48D768ECE}"/>
              </a:ext>
            </a:extLst>
          </p:cNvPr>
          <p:cNvSpPr>
            <a:spLocks noGrp="1"/>
          </p:cNvSpPr>
          <p:nvPr>
            <p:ph type="title"/>
          </p:nvPr>
        </p:nvSpPr>
        <p:spPr>
          <a:xfrm>
            <a:off x="838200" y="160167"/>
            <a:ext cx="10515600" cy="1325563"/>
          </a:xfrm>
        </p:spPr>
        <p:txBody>
          <a:bodyPr/>
          <a:lstStyle/>
          <a:p>
            <a:pPr algn="ctr"/>
            <a:r>
              <a:rPr lang="en-IN" dirty="0"/>
              <a:t>Data </a:t>
            </a:r>
            <a:r>
              <a:rPr lang="en-IN" sz="4000" dirty="0"/>
              <a:t>Architecture</a:t>
            </a:r>
            <a:r>
              <a:rPr lang="en-IN" dirty="0"/>
              <a:t> &amp; Pipeline Design</a:t>
            </a:r>
          </a:p>
        </p:txBody>
      </p:sp>
      <p:sp>
        <p:nvSpPr>
          <p:cNvPr id="3" name="Content Placeholder 2">
            <a:extLst>
              <a:ext uri="{FF2B5EF4-FFF2-40B4-BE49-F238E27FC236}">
                <a16:creationId xmlns:a16="http://schemas.microsoft.com/office/drawing/2014/main" id="{14E1464F-F088-DD30-716C-7C346689ED58}"/>
              </a:ext>
            </a:extLst>
          </p:cNvPr>
          <p:cNvSpPr>
            <a:spLocks noGrp="1"/>
          </p:cNvSpPr>
          <p:nvPr>
            <p:ph idx="1"/>
          </p:nvPr>
        </p:nvSpPr>
        <p:spPr>
          <a:xfrm>
            <a:off x="488730" y="1481962"/>
            <a:ext cx="11319641" cy="5376038"/>
          </a:xfrm>
        </p:spPr>
        <p:txBody>
          <a:bodyPr>
            <a:normAutofit fontScale="25000" lnSpcReduction="20000"/>
          </a:bodyPr>
          <a:lstStyle/>
          <a:p>
            <a:pPr marL="0" indent="0">
              <a:lnSpc>
                <a:spcPct val="120000"/>
              </a:lnSpc>
              <a:buNone/>
            </a:pPr>
            <a:r>
              <a:rPr lang="en-US" sz="8800" dirty="0">
                <a:latin typeface="Arial" panose="020B0604020202020204" pitchFamily="34" charset="0"/>
                <a:cs typeface="Arial" panose="020B0604020202020204" pitchFamily="34" charset="0"/>
              </a:rPr>
              <a:t>This project follows the </a:t>
            </a:r>
            <a:r>
              <a:rPr lang="en-US" sz="8800" b="1" dirty="0">
                <a:latin typeface="Arial" panose="020B0604020202020204" pitchFamily="34" charset="0"/>
                <a:cs typeface="Arial" panose="020B0604020202020204" pitchFamily="34" charset="0"/>
              </a:rPr>
              <a:t>Medallion Architecture (Bronze → Silver → Gold)</a:t>
            </a:r>
            <a:r>
              <a:rPr lang="en-US" sz="8800" dirty="0">
                <a:latin typeface="Arial" panose="020B0604020202020204" pitchFamily="34" charset="0"/>
                <a:cs typeface="Arial" panose="020B0604020202020204" pitchFamily="34" charset="0"/>
              </a:rPr>
              <a:t> to ensure a structured and scalable data pipeline.</a:t>
            </a:r>
          </a:p>
          <a:p>
            <a:pPr>
              <a:lnSpc>
                <a:spcPct val="120000"/>
              </a:lnSpc>
            </a:pPr>
            <a:r>
              <a:rPr lang="en-US" sz="8800" dirty="0">
                <a:latin typeface="Arial" panose="020B0604020202020204" pitchFamily="34" charset="0"/>
                <a:cs typeface="Arial" panose="020B0604020202020204" pitchFamily="34" charset="0"/>
              </a:rPr>
              <a:t>In the </a:t>
            </a:r>
            <a:r>
              <a:rPr lang="en-US" sz="8800" b="1" dirty="0">
                <a:latin typeface="Arial" panose="020B0604020202020204" pitchFamily="34" charset="0"/>
                <a:cs typeface="Arial" panose="020B0604020202020204" pitchFamily="34" charset="0"/>
              </a:rPr>
              <a:t>Bronze</a:t>
            </a:r>
            <a:r>
              <a:rPr lang="en-US" sz="8800" dirty="0">
                <a:latin typeface="Arial" panose="020B0604020202020204" pitchFamily="34" charset="0"/>
                <a:cs typeface="Arial" panose="020B0604020202020204" pitchFamily="34" charset="0"/>
              </a:rPr>
              <a:t> layer, raw data is ingested without transformations to preserve original data integrity. This includes shipment data and weather-related data.</a:t>
            </a:r>
          </a:p>
          <a:p>
            <a:pPr>
              <a:lnSpc>
                <a:spcPct val="120000"/>
              </a:lnSpc>
            </a:pPr>
            <a:r>
              <a:rPr lang="en-US" sz="8800" dirty="0">
                <a:latin typeface="Arial" panose="020B0604020202020204" pitchFamily="34" charset="0"/>
                <a:cs typeface="Arial" panose="020B0604020202020204" pitchFamily="34" charset="0"/>
              </a:rPr>
              <a:t>In the </a:t>
            </a:r>
            <a:r>
              <a:rPr lang="en-US" sz="8800" b="1" dirty="0">
                <a:latin typeface="Arial" panose="020B0604020202020204" pitchFamily="34" charset="0"/>
                <a:cs typeface="Arial" panose="020B0604020202020204" pitchFamily="34" charset="0"/>
              </a:rPr>
              <a:t>Silver</a:t>
            </a:r>
            <a:r>
              <a:rPr lang="en-US" sz="8800" dirty="0">
                <a:latin typeface="Arial" panose="020B0604020202020204" pitchFamily="34" charset="0"/>
                <a:cs typeface="Arial" panose="020B0604020202020204" pitchFamily="34" charset="0"/>
              </a:rPr>
              <a:t> layer, data is cleaned, standardized, and transformed. This involves restructuring datasets, handling inconsistencies, and preparing data for downstream processing.</a:t>
            </a:r>
          </a:p>
          <a:p>
            <a:pPr>
              <a:lnSpc>
                <a:spcPct val="120000"/>
              </a:lnSpc>
            </a:pPr>
            <a:r>
              <a:rPr lang="en-US" sz="8800" dirty="0">
                <a:latin typeface="Arial" panose="020B0604020202020204" pitchFamily="34" charset="0"/>
                <a:cs typeface="Arial" panose="020B0604020202020204" pitchFamily="34" charset="0"/>
              </a:rPr>
              <a:t>In the </a:t>
            </a:r>
            <a:r>
              <a:rPr lang="en-US" sz="8800" b="1" dirty="0">
                <a:latin typeface="Arial" panose="020B0604020202020204" pitchFamily="34" charset="0"/>
                <a:cs typeface="Arial" panose="020B0604020202020204" pitchFamily="34" charset="0"/>
              </a:rPr>
              <a:t>Gold</a:t>
            </a:r>
            <a:r>
              <a:rPr lang="en-US" sz="8800" dirty="0">
                <a:latin typeface="Arial" panose="020B0604020202020204" pitchFamily="34" charset="0"/>
                <a:cs typeface="Arial" panose="020B0604020202020204" pitchFamily="34" charset="0"/>
              </a:rPr>
              <a:t> layer, the data is enriched with business logic and feature engineering. </a:t>
            </a:r>
          </a:p>
          <a:p>
            <a:pPr marL="0" indent="0">
              <a:lnSpc>
                <a:spcPct val="120000"/>
              </a:lnSpc>
              <a:buNone/>
            </a:pPr>
            <a:r>
              <a:rPr lang="en-US" sz="8800" dirty="0">
                <a:latin typeface="Arial" panose="020B0604020202020204" pitchFamily="34" charset="0"/>
                <a:cs typeface="Arial" panose="020B0604020202020204" pitchFamily="34" charset="0"/>
              </a:rPr>
              <a:t>This layer contains:</a:t>
            </a:r>
          </a:p>
          <a:p>
            <a:pPr>
              <a:lnSpc>
                <a:spcPct val="120000"/>
              </a:lnSpc>
            </a:pPr>
            <a:r>
              <a:rPr lang="en-US" sz="8800" dirty="0">
                <a:latin typeface="Arial" panose="020B0604020202020204" pitchFamily="34" charset="0"/>
                <a:cs typeface="Arial" panose="020B0604020202020204" pitchFamily="34" charset="0"/>
              </a:rPr>
              <a:t>ML-ready datasets.</a:t>
            </a:r>
          </a:p>
          <a:p>
            <a:pPr>
              <a:lnSpc>
                <a:spcPct val="120000"/>
              </a:lnSpc>
            </a:pPr>
            <a:r>
              <a:rPr lang="en-US" sz="8800" dirty="0">
                <a:latin typeface="Arial" panose="020B0604020202020204" pitchFamily="34" charset="0"/>
                <a:cs typeface="Arial" panose="020B0604020202020204" pitchFamily="34" charset="0"/>
              </a:rPr>
              <a:t>Prediction outputs.</a:t>
            </a:r>
          </a:p>
          <a:p>
            <a:pPr>
              <a:lnSpc>
                <a:spcPct val="120000"/>
              </a:lnSpc>
            </a:pPr>
            <a:r>
              <a:rPr lang="en-US" sz="8800" dirty="0">
                <a:latin typeface="Arial" panose="020B0604020202020204" pitchFamily="34" charset="0"/>
                <a:cs typeface="Arial" panose="020B0604020202020204" pitchFamily="34" charset="0"/>
              </a:rPr>
              <a:t>Aggregated analytics tables for dashboards.</a:t>
            </a:r>
          </a:p>
          <a:p>
            <a:endParaRPr lang="en-IN" dirty="0"/>
          </a:p>
        </p:txBody>
      </p:sp>
    </p:spTree>
    <p:extLst>
      <p:ext uri="{BB962C8B-B14F-4D97-AF65-F5344CB8AC3E}">
        <p14:creationId xmlns:p14="http://schemas.microsoft.com/office/powerpoint/2010/main" val="2468448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78134C-5997-6C31-5B8B-03232A383FB4}"/>
              </a:ext>
            </a:extLst>
          </p:cNvPr>
          <p:cNvSpPr>
            <a:spLocks noGrp="1"/>
          </p:cNvSpPr>
          <p:nvPr>
            <p:ph idx="1"/>
          </p:nvPr>
        </p:nvSpPr>
        <p:spPr>
          <a:xfrm>
            <a:off x="346843" y="457202"/>
            <a:ext cx="11542986" cy="6164315"/>
          </a:xfrm>
        </p:spPr>
        <p:txBody>
          <a:bodyPr>
            <a:normAutofit fontScale="25000" lnSpcReduction="20000"/>
          </a:bodyPr>
          <a:lstStyle/>
          <a:p>
            <a:pPr marL="0" indent="0">
              <a:lnSpc>
                <a:spcPct val="120000"/>
              </a:lnSpc>
              <a:buNone/>
            </a:pPr>
            <a:r>
              <a:rPr lang="en-US" sz="8800" dirty="0">
                <a:latin typeface="Arial" panose="020B0604020202020204" pitchFamily="34" charset="0"/>
                <a:cs typeface="Arial" panose="020B0604020202020204" pitchFamily="34" charset="0"/>
              </a:rPr>
              <a:t>The pipeline ensures clear separation between raw, processed, and analytical data, improving maintainability and scalability.</a:t>
            </a:r>
          </a:p>
          <a:p>
            <a:pPr marL="0" indent="0">
              <a:lnSpc>
                <a:spcPct val="120000"/>
              </a:lnSpc>
              <a:buNone/>
            </a:pPr>
            <a:r>
              <a:rPr lang="en-US" sz="8800" dirty="0">
                <a:latin typeface="Arial" panose="020B0604020202020204" pitchFamily="34" charset="0"/>
                <a:cs typeface="Arial" panose="020B0604020202020204" pitchFamily="34" charset="0"/>
              </a:rPr>
              <a:t>All datasets are stored as managed tables in Databricks, ensuring efficient querying and integration across notebooks.</a:t>
            </a:r>
          </a:p>
          <a:p>
            <a:pPr marL="0" indent="0">
              <a:lnSpc>
                <a:spcPct val="120000"/>
              </a:lnSpc>
              <a:buNone/>
            </a:pPr>
            <a:endParaRPr lang="en-US" sz="8800" dirty="0">
              <a:latin typeface="Arial" panose="020B0604020202020204" pitchFamily="34" charset="0"/>
              <a:cs typeface="Arial" panose="020B0604020202020204" pitchFamily="34" charset="0"/>
            </a:endParaRPr>
          </a:p>
          <a:p>
            <a:pPr marL="0" indent="0">
              <a:lnSpc>
                <a:spcPct val="120000"/>
              </a:lnSpc>
              <a:buNone/>
            </a:pPr>
            <a:r>
              <a:rPr lang="en-IN" sz="8800" b="1" dirty="0">
                <a:latin typeface="Arial" panose="020B0604020202020204" pitchFamily="34" charset="0"/>
                <a:cs typeface="Arial" panose="020B0604020202020204" pitchFamily="34" charset="0"/>
              </a:rPr>
              <a:t>Data Understanding &amp; Feature Engineering</a:t>
            </a:r>
            <a:r>
              <a:rPr lang="en-IN" sz="8800" dirty="0">
                <a:latin typeface="Arial" panose="020B0604020202020204" pitchFamily="34" charset="0"/>
                <a:cs typeface="Arial" panose="020B0604020202020204" pitchFamily="34" charset="0"/>
              </a:rPr>
              <a:t>:</a:t>
            </a:r>
            <a:endParaRPr lang="en-US" sz="8800" dirty="0">
              <a:latin typeface="Arial" panose="020B0604020202020204" pitchFamily="34" charset="0"/>
              <a:cs typeface="Arial" panose="020B0604020202020204" pitchFamily="34" charset="0"/>
            </a:endParaRPr>
          </a:p>
          <a:p>
            <a:pPr marL="0" indent="0">
              <a:lnSpc>
                <a:spcPct val="120000"/>
              </a:lnSpc>
              <a:spcBef>
                <a:spcPts val="600"/>
              </a:spcBef>
              <a:buNone/>
            </a:pPr>
            <a:r>
              <a:rPr lang="en-US" sz="8800" dirty="0">
                <a:latin typeface="Arial" panose="020B0604020202020204" pitchFamily="34" charset="0"/>
                <a:cs typeface="Arial" panose="020B0604020202020204" pitchFamily="34" charset="0"/>
              </a:rPr>
              <a:t>The dataset consists of shipment-level information such as:</a:t>
            </a:r>
          </a:p>
          <a:p>
            <a:pPr>
              <a:lnSpc>
                <a:spcPct val="120000"/>
              </a:lnSpc>
              <a:spcBef>
                <a:spcPts val="600"/>
              </a:spcBef>
            </a:pPr>
            <a:r>
              <a:rPr lang="en-US" sz="8800" dirty="0">
                <a:latin typeface="Arial" panose="020B0604020202020204" pitchFamily="34" charset="0"/>
                <a:cs typeface="Arial" panose="020B0604020202020204" pitchFamily="34" charset="0"/>
              </a:rPr>
              <a:t>Customer interactions. (customer care calls, ratings)</a:t>
            </a:r>
          </a:p>
          <a:p>
            <a:pPr>
              <a:lnSpc>
                <a:spcPct val="120000"/>
              </a:lnSpc>
              <a:spcBef>
                <a:spcPts val="600"/>
              </a:spcBef>
            </a:pPr>
            <a:r>
              <a:rPr lang="en-US" sz="8800" dirty="0">
                <a:latin typeface="Arial" panose="020B0604020202020204" pitchFamily="34" charset="0"/>
                <a:cs typeface="Arial" panose="020B0604020202020204" pitchFamily="34" charset="0"/>
              </a:rPr>
              <a:t>Product attributes. (cost, importance, weight)</a:t>
            </a:r>
          </a:p>
          <a:p>
            <a:pPr>
              <a:lnSpc>
                <a:spcPct val="120000"/>
              </a:lnSpc>
              <a:spcBef>
                <a:spcPts val="600"/>
              </a:spcBef>
            </a:pPr>
            <a:r>
              <a:rPr lang="en-US" sz="8800" dirty="0">
                <a:latin typeface="Arial" panose="020B0604020202020204" pitchFamily="34" charset="0"/>
                <a:cs typeface="Arial" panose="020B0604020202020204" pitchFamily="34" charset="0"/>
              </a:rPr>
              <a:t>Operational details. (warehouse block, shipment mode)</a:t>
            </a:r>
          </a:p>
          <a:p>
            <a:pPr marL="0" indent="0">
              <a:lnSpc>
                <a:spcPct val="120000"/>
              </a:lnSpc>
              <a:spcBef>
                <a:spcPts val="600"/>
              </a:spcBef>
              <a:buNone/>
            </a:pPr>
            <a:r>
              <a:rPr lang="en-US" sz="8800" dirty="0">
                <a:latin typeface="Arial" panose="020B0604020202020204" pitchFamily="34" charset="0"/>
                <a:cs typeface="Arial" panose="020B0604020202020204" pitchFamily="34" charset="0"/>
              </a:rPr>
              <a:t>The target variable is whether the shipment was delivered on time or delayed.</a:t>
            </a:r>
          </a:p>
          <a:p>
            <a:pPr marL="0" indent="0">
              <a:lnSpc>
                <a:spcPct val="120000"/>
              </a:lnSpc>
              <a:spcBef>
                <a:spcPts val="600"/>
              </a:spcBef>
              <a:buNone/>
            </a:pPr>
            <a:endParaRPr lang="en-US" sz="8800" dirty="0">
              <a:latin typeface="Arial" panose="020B0604020202020204" pitchFamily="34" charset="0"/>
              <a:cs typeface="Arial" panose="020B0604020202020204" pitchFamily="34" charset="0"/>
            </a:endParaRPr>
          </a:p>
          <a:p>
            <a:pPr marL="0" indent="0">
              <a:lnSpc>
                <a:spcPct val="120000"/>
              </a:lnSpc>
              <a:spcBef>
                <a:spcPts val="600"/>
              </a:spcBef>
              <a:buNone/>
            </a:pPr>
            <a:r>
              <a:rPr lang="en-US" sz="8800" dirty="0">
                <a:latin typeface="Arial" panose="020B0604020202020204" pitchFamily="34" charset="0"/>
                <a:cs typeface="Arial" panose="020B0604020202020204" pitchFamily="34" charset="0"/>
              </a:rPr>
              <a:t>Feature engineering plays a critical role in improving model performance. </a:t>
            </a:r>
          </a:p>
          <a:p>
            <a:pPr marL="0" indent="0">
              <a:lnSpc>
                <a:spcPct val="100000"/>
              </a:lnSpc>
              <a:spcBef>
                <a:spcPts val="600"/>
              </a:spcBef>
              <a:buNone/>
            </a:pPr>
            <a:endParaRPr lang="en-US" sz="2200" dirty="0">
              <a:latin typeface="Arial" panose="020B0604020202020204" pitchFamily="34" charset="0"/>
              <a:cs typeface="Arial" panose="020B0604020202020204" pitchFamily="34" charset="0"/>
            </a:endParaRPr>
          </a:p>
          <a:p>
            <a:pPr marL="0" indent="0">
              <a:lnSpc>
                <a:spcPct val="100000"/>
              </a:lnSpc>
              <a:buNone/>
            </a:pPr>
            <a:endParaRPr lang="en-IN" sz="2400" dirty="0"/>
          </a:p>
        </p:txBody>
      </p:sp>
    </p:spTree>
    <p:extLst>
      <p:ext uri="{BB962C8B-B14F-4D97-AF65-F5344CB8AC3E}">
        <p14:creationId xmlns:p14="http://schemas.microsoft.com/office/powerpoint/2010/main" val="1546414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940B59-D891-2A85-3DCC-AAC2B16B67E7}"/>
              </a:ext>
            </a:extLst>
          </p:cNvPr>
          <p:cNvSpPr>
            <a:spLocks noGrp="1"/>
          </p:cNvSpPr>
          <p:nvPr>
            <p:ph idx="1"/>
          </p:nvPr>
        </p:nvSpPr>
        <p:spPr>
          <a:xfrm>
            <a:off x="838200" y="843424"/>
            <a:ext cx="10515600" cy="4832159"/>
          </a:xfrm>
        </p:spPr>
        <p:txBody>
          <a:bodyPr>
            <a:normAutofit fontScale="92500"/>
          </a:bodyPr>
          <a:lstStyle/>
          <a:p>
            <a:pPr marL="0" indent="0">
              <a:lnSpc>
                <a:spcPct val="120000"/>
              </a:lnSpc>
              <a:spcBef>
                <a:spcPts val="200"/>
              </a:spcBef>
              <a:buNone/>
            </a:pPr>
            <a:r>
              <a:rPr lang="en-US" sz="2400" dirty="0">
                <a:latin typeface="Arial" panose="020B0604020202020204" pitchFamily="34" charset="0"/>
                <a:cs typeface="Arial" panose="020B0604020202020204" pitchFamily="34" charset="0"/>
              </a:rPr>
              <a:t>In this project:</a:t>
            </a:r>
          </a:p>
          <a:p>
            <a:pPr>
              <a:lnSpc>
                <a:spcPct val="120000"/>
              </a:lnSpc>
              <a:spcBef>
                <a:spcPts val="200"/>
              </a:spcBef>
            </a:pPr>
            <a:r>
              <a:rPr lang="en-US" sz="2400" dirty="0">
                <a:latin typeface="Arial" panose="020B0604020202020204" pitchFamily="34" charset="0"/>
                <a:cs typeface="Arial" panose="020B0604020202020204" pitchFamily="34" charset="0"/>
              </a:rPr>
              <a:t>Categorical variables like shipment mode, warehouse block, and product importance were encoded using </a:t>
            </a:r>
            <a:r>
              <a:rPr lang="en-US" sz="2400" dirty="0" err="1">
                <a:latin typeface="Arial" panose="020B0604020202020204" pitchFamily="34" charset="0"/>
                <a:cs typeface="Arial" panose="020B0604020202020204" pitchFamily="34" charset="0"/>
              </a:rPr>
              <a:t>StringIndexer</a:t>
            </a:r>
            <a:r>
              <a:rPr lang="en-US" sz="2400" dirty="0">
                <a:latin typeface="Arial" panose="020B0604020202020204" pitchFamily="34" charset="0"/>
                <a:cs typeface="Arial" panose="020B0604020202020204" pitchFamily="34" charset="0"/>
              </a:rPr>
              <a:t>.</a:t>
            </a:r>
          </a:p>
          <a:p>
            <a:pPr>
              <a:lnSpc>
                <a:spcPct val="120000"/>
              </a:lnSpc>
              <a:spcBef>
                <a:spcPts val="200"/>
              </a:spcBef>
            </a:pPr>
            <a:r>
              <a:rPr lang="en-US" sz="2400" dirty="0">
                <a:latin typeface="Arial" panose="020B0604020202020204" pitchFamily="34" charset="0"/>
                <a:cs typeface="Arial" panose="020B0604020202020204" pitchFamily="34" charset="0"/>
              </a:rPr>
              <a:t>A synthetic </a:t>
            </a:r>
            <a:r>
              <a:rPr lang="en-US" sz="2400" b="1" dirty="0">
                <a:latin typeface="Arial" panose="020B0604020202020204" pitchFamily="34" charset="0"/>
                <a:cs typeface="Arial" panose="020B0604020202020204" pitchFamily="34" charset="0"/>
              </a:rPr>
              <a:t>weather severity index</a:t>
            </a:r>
            <a:r>
              <a:rPr lang="en-US" sz="2400" dirty="0">
                <a:latin typeface="Arial" panose="020B0604020202020204" pitchFamily="34" charset="0"/>
                <a:cs typeface="Arial" panose="020B0604020202020204" pitchFamily="34" charset="0"/>
              </a:rPr>
              <a:t> was created to simulate external disruptions.</a:t>
            </a:r>
          </a:p>
          <a:p>
            <a:pPr>
              <a:lnSpc>
                <a:spcPct val="120000"/>
              </a:lnSpc>
              <a:spcBef>
                <a:spcPts val="200"/>
              </a:spcBef>
            </a:pPr>
            <a:r>
              <a:rPr lang="en-US" sz="2400" dirty="0">
                <a:latin typeface="Arial" panose="020B0604020202020204" pitchFamily="34" charset="0"/>
                <a:cs typeface="Arial" panose="020B0604020202020204" pitchFamily="34" charset="0"/>
              </a:rPr>
              <a:t>All features were assembled into a single vector for machine learning.</a:t>
            </a:r>
          </a:p>
          <a:p>
            <a:pPr marL="0" indent="0">
              <a:lnSpc>
                <a:spcPct val="120000"/>
              </a:lnSpc>
              <a:spcBef>
                <a:spcPts val="200"/>
              </a:spcBef>
              <a:buNone/>
            </a:pPr>
            <a:endParaRPr lang="en-US" sz="2400" dirty="0">
              <a:latin typeface="Arial" panose="020B0604020202020204" pitchFamily="34" charset="0"/>
              <a:cs typeface="Arial" panose="020B0604020202020204" pitchFamily="34" charset="0"/>
            </a:endParaRPr>
          </a:p>
          <a:p>
            <a:pPr marL="0" indent="0">
              <a:lnSpc>
                <a:spcPct val="120000"/>
              </a:lnSpc>
              <a:spcBef>
                <a:spcPts val="200"/>
              </a:spcBef>
              <a:buNone/>
            </a:pPr>
            <a:r>
              <a:rPr lang="en-US" sz="2400" b="1" dirty="0">
                <a:latin typeface="Arial" panose="020B0604020202020204" pitchFamily="34" charset="0"/>
                <a:cs typeface="Arial" panose="020B0604020202020204" pitchFamily="34" charset="0"/>
              </a:rPr>
              <a:t>Data preprocessing </a:t>
            </a:r>
            <a:r>
              <a:rPr lang="en-US" sz="2400" dirty="0">
                <a:latin typeface="Arial" panose="020B0604020202020204" pitchFamily="34" charset="0"/>
                <a:cs typeface="Arial" panose="020B0604020202020204" pitchFamily="34" charset="0"/>
              </a:rPr>
              <a:t>included:</a:t>
            </a:r>
          </a:p>
          <a:p>
            <a:pPr>
              <a:lnSpc>
                <a:spcPct val="120000"/>
              </a:lnSpc>
              <a:spcBef>
                <a:spcPts val="200"/>
              </a:spcBef>
            </a:pPr>
            <a:r>
              <a:rPr lang="en-US" sz="2400" dirty="0">
                <a:latin typeface="Arial" panose="020B0604020202020204" pitchFamily="34" charset="0"/>
                <a:cs typeface="Arial" panose="020B0604020202020204" pitchFamily="34" charset="0"/>
              </a:rPr>
              <a:t>Selecting relevant columns.</a:t>
            </a:r>
          </a:p>
          <a:p>
            <a:pPr>
              <a:lnSpc>
                <a:spcPct val="120000"/>
              </a:lnSpc>
              <a:spcBef>
                <a:spcPts val="200"/>
              </a:spcBef>
            </a:pPr>
            <a:r>
              <a:rPr lang="en-US" sz="2400" dirty="0">
                <a:latin typeface="Arial" panose="020B0604020202020204" pitchFamily="34" charset="0"/>
                <a:cs typeface="Arial" panose="020B0604020202020204" pitchFamily="34" charset="0"/>
              </a:rPr>
              <a:t>Converting categorical to numerical.</a:t>
            </a:r>
          </a:p>
          <a:p>
            <a:pPr>
              <a:lnSpc>
                <a:spcPct val="120000"/>
              </a:lnSpc>
              <a:spcBef>
                <a:spcPts val="200"/>
              </a:spcBef>
            </a:pPr>
            <a:r>
              <a:rPr lang="en-US" sz="2400" dirty="0">
                <a:latin typeface="Arial" panose="020B0604020202020204" pitchFamily="34" charset="0"/>
                <a:cs typeface="Arial" panose="020B0604020202020204" pitchFamily="34" charset="0"/>
              </a:rPr>
              <a:t>Structuring the dataset for ML pipeline.</a:t>
            </a:r>
          </a:p>
          <a:p>
            <a:pPr marL="0" indent="0">
              <a:lnSpc>
                <a:spcPct val="120000"/>
              </a:lnSpc>
              <a:spcBef>
                <a:spcPts val="200"/>
              </a:spcBef>
              <a:buNone/>
            </a:pPr>
            <a:r>
              <a:rPr lang="en-US" sz="2400" dirty="0">
                <a:latin typeface="Arial" panose="020B0604020202020204" pitchFamily="34" charset="0"/>
                <a:cs typeface="Arial" panose="020B0604020202020204" pitchFamily="34" charset="0"/>
              </a:rPr>
              <a:t>This ensures the data is clean, consistent, and suitable for modeling.</a:t>
            </a:r>
          </a:p>
          <a:p>
            <a:endParaRPr lang="en-IN" dirty="0"/>
          </a:p>
        </p:txBody>
      </p:sp>
    </p:spTree>
    <p:extLst>
      <p:ext uri="{BB962C8B-B14F-4D97-AF65-F5344CB8AC3E}">
        <p14:creationId xmlns:p14="http://schemas.microsoft.com/office/powerpoint/2010/main" val="2060062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80657-E790-5698-37FB-8023319DEF40}"/>
              </a:ext>
            </a:extLst>
          </p:cNvPr>
          <p:cNvSpPr>
            <a:spLocks noGrp="1"/>
          </p:cNvSpPr>
          <p:nvPr>
            <p:ph type="title"/>
          </p:nvPr>
        </p:nvSpPr>
        <p:spPr>
          <a:xfrm>
            <a:off x="838200" y="34039"/>
            <a:ext cx="10515600" cy="1325563"/>
          </a:xfrm>
        </p:spPr>
        <p:txBody>
          <a:bodyPr/>
          <a:lstStyle/>
          <a:p>
            <a:pPr algn="ctr"/>
            <a:r>
              <a:rPr lang="en-IN" dirty="0"/>
              <a:t>Delta Lake Implementation</a:t>
            </a:r>
          </a:p>
        </p:txBody>
      </p:sp>
      <p:sp>
        <p:nvSpPr>
          <p:cNvPr id="3" name="Content Placeholder 2">
            <a:extLst>
              <a:ext uri="{FF2B5EF4-FFF2-40B4-BE49-F238E27FC236}">
                <a16:creationId xmlns:a16="http://schemas.microsoft.com/office/drawing/2014/main" id="{5575708A-53DA-E2AB-DBFA-BF3388BF4E9F}"/>
              </a:ext>
            </a:extLst>
          </p:cNvPr>
          <p:cNvSpPr>
            <a:spLocks noGrp="1"/>
          </p:cNvSpPr>
          <p:nvPr>
            <p:ph idx="1"/>
          </p:nvPr>
        </p:nvSpPr>
        <p:spPr>
          <a:xfrm>
            <a:off x="394139" y="1245476"/>
            <a:ext cx="11414234" cy="5562109"/>
          </a:xfrm>
        </p:spPr>
        <p:txBody>
          <a:bodyPr>
            <a:normAutofit fontScale="47500" lnSpcReduction="20000"/>
          </a:bodyPr>
          <a:lstStyle/>
          <a:p>
            <a:pPr marL="0" indent="0">
              <a:lnSpc>
                <a:spcPct val="120000"/>
              </a:lnSpc>
              <a:spcBef>
                <a:spcPts val="600"/>
              </a:spcBef>
              <a:buNone/>
            </a:pPr>
            <a:r>
              <a:rPr lang="en-US" sz="4400" dirty="0">
                <a:latin typeface="Arial" panose="020B0604020202020204" pitchFamily="34" charset="0"/>
                <a:cs typeface="Arial" panose="020B0604020202020204" pitchFamily="34" charset="0"/>
              </a:rPr>
              <a:t>All data layers are implemented using Delta tables, enabling reliable and scalable data management.</a:t>
            </a:r>
          </a:p>
          <a:p>
            <a:pPr marL="0" indent="0">
              <a:lnSpc>
                <a:spcPct val="120000"/>
              </a:lnSpc>
              <a:spcBef>
                <a:spcPts val="600"/>
              </a:spcBef>
              <a:buNone/>
            </a:pPr>
            <a:r>
              <a:rPr lang="en-US" sz="4400" dirty="0">
                <a:latin typeface="Arial" panose="020B0604020202020204" pitchFamily="34" charset="0"/>
                <a:cs typeface="Arial" panose="020B0604020202020204" pitchFamily="34" charset="0"/>
              </a:rPr>
              <a:t>Key features used:</a:t>
            </a:r>
          </a:p>
          <a:p>
            <a:pPr>
              <a:lnSpc>
                <a:spcPct val="120000"/>
              </a:lnSpc>
              <a:spcBef>
                <a:spcPts val="600"/>
              </a:spcBef>
            </a:pPr>
            <a:r>
              <a:rPr lang="en-US" sz="4400" b="1" dirty="0">
                <a:latin typeface="Arial" panose="020B0604020202020204" pitchFamily="34" charset="0"/>
                <a:cs typeface="Arial" panose="020B0604020202020204" pitchFamily="34" charset="0"/>
              </a:rPr>
              <a:t>ACID transactions</a:t>
            </a:r>
            <a:r>
              <a:rPr lang="en-US" sz="4400" dirty="0">
                <a:latin typeface="Arial" panose="020B0604020202020204" pitchFamily="34" charset="0"/>
                <a:cs typeface="Arial" panose="020B0604020202020204" pitchFamily="34" charset="0"/>
              </a:rPr>
              <a:t> ensure data consistency during read/write operations.</a:t>
            </a:r>
          </a:p>
          <a:p>
            <a:pPr>
              <a:lnSpc>
                <a:spcPct val="120000"/>
              </a:lnSpc>
              <a:spcBef>
                <a:spcPts val="600"/>
              </a:spcBef>
            </a:pPr>
            <a:r>
              <a:rPr lang="en-US" sz="4400" b="1" dirty="0">
                <a:latin typeface="Arial" panose="020B0604020202020204" pitchFamily="34" charset="0"/>
                <a:cs typeface="Arial" panose="020B0604020202020204" pitchFamily="34" charset="0"/>
              </a:rPr>
              <a:t>Schema enforcement</a:t>
            </a:r>
            <a:r>
              <a:rPr lang="en-US" sz="4400" dirty="0">
                <a:latin typeface="Arial" panose="020B0604020202020204" pitchFamily="34" charset="0"/>
                <a:cs typeface="Arial" panose="020B0604020202020204" pitchFamily="34" charset="0"/>
              </a:rPr>
              <a:t> prevents incorrect data ingestion.</a:t>
            </a:r>
          </a:p>
          <a:p>
            <a:pPr>
              <a:lnSpc>
                <a:spcPct val="120000"/>
              </a:lnSpc>
              <a:spcBef>
                <a:spcPts val="600"/>
              </a:spcBef>
            </a:pPr>
            <a:r>
              <a:rPr lang="en-US" sz="4400" b="1" dirty="0">
                <a:latin typeface="Arial" panose="020B0604020202020204" pitchFamily="34" charset="0"/>
                <a:cs typeface="Arial" panose="020B0604020202020204" pitchFamily="34" charset="0"/>
              </a:rPr>
              <a:t>Time travel capability</a:t>
            </a:r>
            <a:r>
              <a:rPr lang="en-US" sz="4400" dirty="0">
                <a:latin typeface="Arial" panose="020B0604020202020204" pitchFamily="34" charset="0"/>
                <a:cs typeface="Arial" panose="020B0604020202020204" pitchFamily="34" charset="0"/>
              </a:rPr>
              <a:t> allows access to previous versions of data.</a:t>
            </a:r>
          </a:p>
          <a:p>
            <a:pPr>
              <a:lnSpc>
                <a:spcPct val="120000"/>
              </a:lnSpc>
              <a:spcBef>
                <a:spcPts val="600"/>
              </a:spcBef>
            </a:pPr>
            <a:r>
              <a:rPr lang="en-US" sz="4400" b="1" dirty="0">
                <a:latin typeface="Arial" panose="020B0604020202020204" pitchFamily="34" charset="0"/>
                <a:cs typeface="Arial" panose="020B0604020202020204" pitchFamily="34" charset="0"/>
              </a:rPr>
              <a:t>Overwrite mode</a:t>
            </a:r>
            <a:r>
              <a:rPr lang="en-US" sz="4400" dirty="0">
                <a:latin typeface="Arial" panose="020B0604020202020204" pitchFamily="34" charset="0"/>
                <a:cs typeface="Arial" panose="020B0604020202020204" pitchFamily="34" charset="0"/>
              </a:rPr>
              <a:t> ensures clean updates during pipeline runs.</a:t>
            </a:r>
          </a:p>
          <a:p>
            <a:pPr marL="0" indent="0">
              <a:lnSpc>
                <a:spcPct val="120000"/>
              </a:lnSpc>
              <a:spcBef>
                <a:spcPts val="600"/>
              </a:spcBef>
              <a:buNone/>
            </a:pPr>
            <a:endParaRPr lang="en-US" sz="4400" dirty="0">
              <a:latin typeface="Arial" panose="020B0604020202020204" pitchFamily="34" charset="0"/>
              <a:cs typeface="Arial" panose="020B0604020202020204" pitchFamily="34" charset="0"/>
            </a:endParaRPr>
          </a:p>
          <a:p>
            <a:pPr marL="0" indent="0">
              <a:lnSpc>
                <a:spcPct val="120000"/>
              </a:lnSpc>
              <a:spcBef>
                <a:spcPts val="600"/>
              </a:spcBef>
              <a:buNone/>
            </a:pPr>
            <a:r>
              <a:rPr lang="en-US" sz="4400" dirty="0">
                <a:latin typeface="Arial" panose="020B0604020202020204" pitchFamily="34" charset="0"/>
                <a:cs typeface="Arial" panose="020B0604020202020204" pitchFamily="34" charset="0"/>
              </a:rPr>
              <a:t>Additionally, performance optimization techniques such as:</a:t>
            </a:r>
          </a:p>
          <a:p>
            <a:pPr>
              <a:lnSpc>
                <a:spcPct val="120000"/>
              </a:lnSpc>
              <a:spcBef>
                <a:spcPts val="600"/>
              </a:spcBef>
            </a:pPr>
            <a:r>
              <a:rPr lang="en-US" sz="4400" dirty="0">
                <a:latin typeface="Arial" panose="020B0604020202020204" pitchFamily="34" charset="0"/>
                <a:cs typeface="Arial" panose="020B0604020202020204" pitchFamily="34" charset="0"/>
              </a:rPr>
              <a:t>Table optimization.</a:t>
            </a:r>
          </a:p>
          <a:p>
            <a:pPr>
              <a:lnSpc>
                <a:spcPct val="120000"/>
              </a:lnSpc>
              <a:spcBef>
                <a:spcPts val="600"/>
              </a:spcBef>
            </a:pPr>
            <a:r>
              <a:rPr lang="en-US" sz="4400" dirty="0">
                <a:latin typeface="Arial" panose="020B0604020202020204" pitchFamily="34" charset="0"/>
                <a:cs typeface="Arial" panose="020B0604020202020204" pitchFamily="34" charset="0"/>
              </a:rPr>
              <a:t>Efficient storage format.</a:t>
            </a:r>
          </a:p>
          <a:p>
            <a:pPr marL="0" indent="0">
              <a:lnSpc>
                <a:spcPct val="120000"/>
              </a:lnSpc>
              <a:spcBef>
                <a:spcPts val="600"/>
              </a:spcBef>
              <a:buNone/>
            </a:pPr>
            <a:r>
              <a:rPr lang="en-US" sz="4400" dirty="0">
                <a:latin typeface="Arial" panose="020B0604020202020204" pitchFamily="34" charset="0"/>
                <a:cs typeface="Arial" panose="020B0604020202020204" pitchFamily="34" charset="0"/>
              </a:rPr>
              <a:t>can be applied for large-scale scenarios.</a:t>
            </a:r>
          </a:p>
          <a:p>
            <a:pPr marL="0" indent="0">
              <a:lnSpc>
                <a:spcPct val="120000"/>
              </a:lnSpc>
              <a:spcBef>
                <a:spcPts val="600"/>
              </a:spcBef>
              <a:buNone/>
            </a:pPr>
            <a:r>
              <a:rPr lang="en-US" sz="4400" dirty="0">
                <a:latin typeface="Arial" panose="020B0604020202020204" pitchFamily="34" charset="0"/>
                <a:cs typeface="Arial" panose="020B0604020202020204" pitchFamily="34" charset="0"/>
              </a:rPr>
              <a:t>This makes the system production-ready and aligned with modern data engineering standards.</a:t>
            </a:r>
          </a:p>
          <a:p>
            <a:endParaRPr lang="en-IN" dirty="0"/>
          </a:p>
        </p:txBody>
      </p:sp>
    </p:spTree>
    <p:extLst>
      <p:ext uri="{BB962C8B-B14F-4D97-AF65-F5344CB8AC3E}">
        <p14:creationId xmlns:p14="http://schemas.microsoft.com/office/powerpoint/2010/main" val="2118475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C5A72-C44C-F0D0-3A29-DAE2B333F49D}"/>
              </a:ext>
            </a:extLst>
          </p:cNvPr>
          <p:cNvSpPr>
            <a:spLocks noGrp="1"/>
          </p:cNvSpPr>
          <p:nvPr>
            <p:ph type="title"/>
          </p:nvPr>
        </p:nvSpPr>
        <p:spPr>
          <a:xfrm>
            <a:off x="838200" y="34040"/>
            <a:ext cx="10515600" cy="1325563"/>
          </a:xfrm>
        </p:spPr>
        <p:txBody>
          <a:bodyPr/>
          <a:lstStyle/>
          <a:p>
            <a:pPr algn="ctr"/>
            <a:r>
              <a:rPr lang="en-IN" dirty="0"/>
              <a:t>Model Selection &amp; Technical Reasoning</a:t>
            </a:r>
          </a:p>
        </p:txBody>
      </p:sp>
      <p:sp>
        <p:nvSpPr>
          <p:cNvPr id="3" name="Content Placeholder 2">
            <a:extLst>
              <a:ext uri="{FF2B5EF4-FFF2-40B4-BE49-F238E27FC236}">
                <a16:creationId xmlns:a16="http://schemas.microsoft.com/office/drawing/2014/main" id="{77FDE04B-545C-60D8-0048-9F493361854B}"/>
              </a:ext>
            </a:extLst>
          </p:cNvPr>
          <p:cNvSpPr>
            <a:spLocks noGrp="1"/>
          </p:cNvSpPr>
          <p:nvPr>
            <p:ph idx="1"/>
          </p:nvPr>
        </p:nvSpPr>
        <p:spPr>
          <a:xfrm>
            <a:off x="457200" y="1229710"/>
            <a:ext cx="11288110" cy="5594250"/>
          </a:xfrm>
        </p:spPr>
        <p:txBody>
          <a:bodyPr>
            <a:normAutofit/>
          </a:bodyPr>
          <a:lstStyle/>
          <a:p>
            <a:pPr marL="0" indent="0">
              <a:buNone/>
            </a:pPr>
            <a:r>
              <a:rPr lang="en-US" sz="2200" dirty="0">
                <a:latin typeface="Arial" panose="020B0604020202020204" pitchFamily="34" charset="0"/>
                <a:cs typeface="Arial" panose="020B0604020202020204" pitchFamily="34" charset="0"/>
              </a:rPr>
              <a:t>The problem is framed as a </a:t>
            </a:r>
            <a:r>
              <a:rPr lang="en-US" sz="2200" b="1" dirty="0">
                <a:latin typeface="Arial" panose="020B0604020202020204" pitchFamily="34" charset="0"/>
                <a:cs typeface="Arial" panose="020B0604020202020204" pitchFamily="34" charset="0"/>
              </a:rPr>
              <a:t>binary classification task</a:t>
            </a:r>
            <a:r>
              <a:rPr lang="en-US" sz="2200" dirty="0">
                <a:latin typeface="Arial" panose="020B0604020202020204" pitchFamily="34" charset="0"/>
                <a:cs typeface="Arial" panose="020B0604020202020204" pitchFamily="34" charset="0"/>
              </a:rPr>
              <a:t>, where the goal is to predict whether a shipment will be delayed.</a:t>
            </a:r>
          </a:p>
          <a:p>
            <a:pPr marL="0" indent="0">
              <a:buNone/>
            </a:pPr>
            <a:r>
              <a:rPr lang="en-US" sz="2200" dirty="0">
                <a:latin typeface="Arial" panose="020B0604020202020204" pitchFamily="34" charset="0"/>
                <a:cs typeface="Arial" panose="020B0604020202020204" pitchFamily="34" charset="0"/>
              </a:rPr>
              <a:t>A </a:t>
            </a:r>
            <a:r>
              <a:rPr lang="en-US" sz="2200" b="1" dirty="0">
                <a:latin typeface="Arial" panose="020B0604020202020204" pitchFamily="34" charset="0"/>
                <a:cs typeface="Arial" panose="020B0604020202020204" pitchFamily="34" charset="0"/>
              </a:rPr>
              <a:t>Random Forest Classifier</a:t>
            </a:r>
            <a:r>
              <a:rPr lang="en-US" sz="2200" dirty="0">
                <a:latin typeface="Arial" panose="020B0604020202020204" pitchFamily="34" charset="0"/>
                <a:cs typeface="Arial" panose="020B0604020202020204" pitchFamily="34" charset="0"/>
              </a:rPr>
              <a:t> was selected for this task because:</a:t>
            </a:r>
          </a:p>
          <a:p>
            <a:r>
              <a:rPr lang="en-US" sz="2200" dirty="0">
                <a:latin typeface="Arial" panose="020B0604020202020204" pitchFamily="34" charset="0"/>
                <a:cs typeface="Arial" panose="020B0604020202020204" pitchFamily="34" charset="0"/>
              </a:rPr>
              <a:t>It handles both numerical and categorical features effectively.</a:t>
            </a:r>
          </a:p>
          <a:p>
            <a:r>
              <a:rPr lang="en-US" sz="2200" dirty="0">
                <a:latin typeface="Arial" panose="020B0604020202020204" pitchFamily="34" charset="0"/>
                <a:cs typeface="Arial" panose="020B0604020202020204" pitchFamily="34" charset="0"/>
              </a:rPr>
              <a:t>It captures non-linear relationships.</a:t>
            </a:r>
          </a:p>
          <a:p>
            <a:r>
              <a:rPr lang="en-US" sz="2200" dirty="0">
                <a:latin typeface="Arial" panose="020B0604020202020204" pitchFamily="34" charset="0"/>
                <a:cs typeface="Arial" panose="020B0604020202020204" pitchFamily="34" charset="0"/>
              </a:rPr>
              <a:t>It is robust to noise and overfitting.</a:t>
            </a:r>
          </a:p>
          <a:p>
            <a:pPr marL="0" indent="0">
              <a:buNone/>
            </a:pPr>
            <a:endParaRPr lang="en-US" sz="2200" dirty="0">
              <a:latin typeface="Arial" panose="020B0604020202020204" pitchFamily="34" charset="0"/>
              <a:cs typeface="Arial" panose="020B0604020202020204" pitchFamily="34" charset="0"/>
            </a:endParaRPr>
          </a:p>
          <a:p>
            <a:pPr marL="0" indent="0">
              <a:buNone/>
            </a:pPr>
            <a:r>
              <a:rPr lang="en-US" sz="2200" dirty="0">
                <a:latin typeface="Arial" panose="020B0604020202020204" pitchFamily="34" charset="0"/>
                <a:cs typeface="Arial" panose="020B0604020202020204" pitchFamily="34" charset="0"/>
              </a:rPr>
              <a:t>The model also provides </a:t>
            </a:r>
            <a:r>
              <a:rPr lang="en-US" sz="2200" b="1" dirty="0">
                <a:latin typeface="Arial" panose="020B0604020202020204" pitchFamily="34" charset="0"/>
                <a:cs typeface="Arial" panose="020B0604020202020204" pitchFamily="34" charset="0"/>
              </a:rPr>
              <a:t>feature importance</a:t>
            </a:r>
            <a:r>
              <a:rPr lang="en-US" sz="2200" dirty="0">
                <a:latin typeface="Arial" panose="020B0604020202020204" pitchFamily="34" charset="0"/>
                <a:cs typeface="Arial" panose="020B0604020202020204" pitchFamily="34" charset="0"/>
              </a:rPr>
              <a:t>, which helps in understanding key drivers of delay: Discount offered and weight of shipment are the most influential features.</a:t>
            </a:r>
          </a:p>
          <a:p>
            <a:pPr marL="0" indent="0">
              <a:buNone/>
            </a:pPr>
            <a:endParaRPr lang="en-US" sz="2200" dirty="0">
              <a:latin typeface="Arial" panose="020B0604020202020204" pitchFamily="34" charset="0"/>
              <a:cs typeface="Arial" panose="020B0604020202020204" pitchFamily="34" charset="0"/>
            </a:endParaRPr>
          </a:p>
          <a:p>
            <a:pPr marL="0" indent="0">
              <a:buNone/>
            </a:pPr>
            <a:r>
              <a:rPr lang="en-US" sz="2200" dirty="0">
                <a:latin typeface="Arial" panose="020B0604020202020204" pitchFamily="34" charset="0"/>
                <a:cs typeface="Arial" panose="020B0604020202020204" pitchFamily="34" charset="0"/>
              </a:rPr>
              <a:t>Limitations:</a:t>
            </a:r>
          </a:p>
          <a:p>
            <a:r>
              <a:rPr lang="en-US" sz="2200" dirty="0">
                <a:latin typeface="Arial" panose="020B0604020202020204" pitchFamily="34" charset="0"/>
                <a:cs typeface="Arial" panose="020B0604020202020204" pitchFamily="34" charset="0"/>
              </a:rPr>
              <a:t>Weather data is simulated, so its impact is limited.</a:t>
            </a:r>
          </a:p>
          <a:p>
            <a:r>
              <a:rPr lang="en-US" sz="2200" dirty="0">
                <a:latin typeface="Arial" panose="020B0604020202020204" pitchFamily="34" charset="0"/>
                <a:cs typeface="Arial" panose="020B0604020202020204" pitchFamily="34" charset="0"/>
              </a:rPr>
              <a:t>Model performance can improve with real-world external data.</a:t>
            </a:r>
          </a:p>
          <a:p>
            <a:pPr marL="0" indent="0">
              <a:buNone/>
            </a:pPr>
            <a:endParaRPr lang="en-US"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29918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17793-5C72-5427-D10F-961A23444B76}"/>
              </a:ext>
            </a:extLst>
          </p:cNvPr>
          <p:cNvSpPr>
            <a:spLocks noGrp="1"/>
          </p:cNvSpPr>
          <p:nvPr>
            <p:ph type="title"/>
          </p:nvPr>
        </p:nvSpPr>
        <p:spPr>
          <a:xfrm>
            <a:off x="838200" y="18280"/>
            <a:ext cx="10515600" cy="1069537"/>
          </a:xfrm>
        </p:spPr>
        <p:txBody>
          <a:bodyPr/>
          <a:lstStyle/>
          <a:p>
            <a:pPr algn="ctr"/>
            <a:r>
              <a:rPr lang="en-IN" dirty="0"/>
              <a:t>Training, Evaluation &amp; Metrics</a:t>
            </a:r>
          </a:p>
        </p:txBody>
      </p:sp>
      <p:sp>
        <p:nvSpPr>
          <p:cNvPr id="3" name="Content Placeholder 2">
            <a:extLst>
              <a:ext uri="{FF2B5EF4-FFF2-40B4-BE49-F238E27FC236}">
                <a16:creationId xmlns:a16="http://schemas.microsoft.com/office/drawing/2014/main" id="{D349307F-909A-182A-3BC8-20694058B833}"/>
              </a:ext>
            </a:extLst>
          </p:cNvPr>
          <p:cNvSpPr>
            <a:spLocks noGrp="1"/>
          </p:cNvSpPr>
          <p:nvPr>
            <p:ph idx="1"/>
          </p:nvPr>
        </p:nvSpPr>
        <p:spPr>
          <a:xfrm>
            <a:off x="425669" y="1087817"/>
            <a:ext cx="11382703" cy="5751903"/>
          </a:xfrm>
        </p:spPr>
        <p:txBody>
          <a:bodyPr>
            <a:normAutofit fontScale="47500" lnSpcReduction="20000"/>
          </a:bodyPr>
          <a:lstStyle/>
          <a:p>
            <a:pPr marL="0" indent="0">
              <a:lnSpc>
                <a:spcPct val="120000"/>
              </a:lnSpc>
              <a:spcBef>
                <a:spcPts val="200"/>
              </a:spcBef>
              <a:buNone/>
            </a:pPr>
            <a:r>
              <a:rPr lang="en-US" sz="4600" dirty="0">
                <a:latin typeface="Arial" panose="020B0604020202020204" pitchFamily="34" charset="0"/>
                <a:cs typeface="Arial" panose="020B0604020202020204" pitchFamily="34" charset="0"/>
              </a:rPr>
              <a:t>The dataset was split into training and testing sets using an </a:t>
            </a:r>
            <a:r>
              <a:rPr lang="en-US" sz="4600" b="1" dirty="0">
                <a:latin typeface="Arial" panose="020B0604020202020204" pitchFamily="34" charset="0"/>
                <a:cs typeface="Arial" panose="020B0604020202020204" pitchFamily="34" charset="0"/>
              </a:rPr>
              <a:t>80/20 ratio</a:t>
            </a:r>
            <a:r>
              <a:rPr lang="en-US" sz="4600" dirty="0">
                <a:latin typeface="Arial" panose="020B0604020202020204" pitchFamily="34" charset="0"/>
                <a:cs typeface="Arial" panose="020B0604020202020204" pitchFamily="34" charset="0"/>
              </a:rPr>
              <a:t>:</a:t>
            </a:r>
          </a:p>
          <a:p>
            <a:pPr>
              <a:lnSpc>
                <a:spcPct val="120000"/>
              </a:lnSpc>
              <a:spcBef>
                <a:spcPts val="200"/>
              </a:spcBef>
            </a:pPr>
            <a:r>
              <a:rPr lang="en-US" sz="4600" dirty="0">
                <a:latin typeface="Arial" panose="020B0604020202020204" pitchFamily="34" charset="0"/>
                <a:cs typeface="Arial" panose="020B0604020202020204" pitchFamily="34" charset="0"/>
              </a:rPr>
              <a:t>Training: 8865 records</a:t>
            </a:r>
          </a:p>
          <a:p>
            <a:pPr>
              <a:lnSpc>
                <a:spcPct val="120000"/>
              </a:lnSpc>
              <a:spcBef>
                <a:spcPts val="200"/>
              </a:spcBef>
            </a:pPr>
            <a:r>
              <a:rPr lang="en-US" sz="4600" dirty="0">
                <a:latin typeface="Arial" panose="020B0604020202020204" pitchFamily="34" charset="0"/>
                <a:cs typeface="Arial" panose="020B0604020202020204" pitchFamily="34" charset="0"/>
              </a:rPr>
              <a:t>Testing: 2134 records</a:t>
            </a:r>
          </a:p>
          <a:p>
            <a:pPr marL="0" indent="0">
              <a:lnSpc>
                <a:spcPct val="120000"/>
              </a:lnSpc>
              <a:spcBef>
                <a:spcPts val="200"/>
              </a:spcBef>
              <a:buNone/>
            </a:pPr>
            <a:r>
              <a:rPr lang="en-US" sz="4600" dirty="0">
                <a:latin typeface="Arial" panose="020B0604020202020204" pitchFamily="34" charset="0"/>
                <a:cs typeface="Arial" panose="020B0604020202020204" pitchFamily="34" charset="0"/>
              </a:rPr>
              <a:t>The model was evaluated using </a:t>
            </a:r>
            <a:r>
              <a:rPr lang="en-US" sz="4600" b="1" dirty="0">
                <a:latin typeface="Arial" panose="020B0604020202020204" pitchFamily="34" charset="0"/>
                <a:cs typeface="Arial" panose="020B0604020202020204" pitchFamily="34" charset="0"/>
              </a:rPr>
              <a:t>AUC (Area Under Curve)</a:t>
            </a:r>
            <a:r>
              <a:rPr lang="en-US" sz="4600" dirty="0">
                <a:latin typeface="Arial" panose="020B0604020202020204" pitchFamily="34" charset="0"/>
                <a:cs typeface="Arial" panose="020B0604020202020204" pitchFamily="34" charset="0"/>
              </a:rPr>
              <a:t>, which is suitable for binary classification: </a:t>
            </a:r>
            <a:r>
              <a:rPr lang="en-US" sz="4600" b="1" dirty="0">
                <a:latin typeface="Arial" panose="020B0604020202020204" pitchFamily="34" charset="0"/>
                <a:cs typeface="Arial" panose="020B0604020202020204" pitchFamily="34" charset="0"/>
              </a:rPr>
              <a:t>Achieved AUC Score</a:t>
            </a:r>
            <a:r>
              <a:rPr lang="en-US" sz="4600" dirty="0">
                <a:latin typeface="Arial" panose="020B0604020202020204" pitchFamily="34" charset="0"/>
                <a:cs typeface="Arial" panose="020B0604020202020204" pitchFamily="34" charset="0"/>
              </a:rPr>
              <a:t>: </a:t>
            </a:r>
            <a:r>
              <a:rPr lang="en-US" sz="4600" b="1" dirty="0">
                <a:latin typeface="Arial" panose="020B0604020202020204" pitchFamily="34" charset="0"/>
                <a:cs typeface="Arial" panose="020B0604020202020204" pitchFamily="34" charset="0"/>
              </a:rPr>
              <a:t>0.7399</a:t>
            </a:r>
            <a:endParaRPr lang="en-US" sz="4600" dirty="0">
              <a:latin typeface="Arial" panose="020B0604020202020204" pitchFamily="34" charset="0"/>
              <a:cs typeface="Arial" panose="020B0604020202020204" pitchFamily="34" charset="0"/>
            </a:endParaRPr>
          </a:p>
          <a:p>
            <a:pPr marL="0" indent="0">
              <a:lnSpc>
                <a:spcPct val="120000"/>
              </a:lnSpc>
              <a:spcBef>
                <a:spcPts val="200"/>
              </a:spcBef>
              <a:buNone/>
            </a:pPr>
            <a:endParaRPr lang="en-US" sz="4600" dirty="0">
              <a:latin typeface="Arial" panose="020B0604020202020204" pitchFamily="34" charset="0"/>
              <a:cs typeface="Arial" panose="020B0604020202020204" pitchFamily="34" charset="0"/>
            </a:endParaRPr>
          </a:p>
          <a:p>
            <a:pPr marL="0" indent="0">
              <a:lnSpc>
                <a:spcPct val="120000"/>
              </a:lnSpc>
              <a:spcBef>
                <a:spcPts val="200"/>
              </a:spcBef>
              <a:buNone/>
            </a:pPr>
            <a:r>
              <a:rPr lang="en-US" sz="4600" dirty="0">
                <a:latin typeface="Arial" panose="020B0604020202020204" pitchFamily="34" charset="0"/>
                <a:cs typeface="Arial" panose="020B0604020202020204" pitchFamily="34" charset="0"/>
              </a:rPr>
              <a:t>This indicates that the model has a good ability to distinguish between delayed and non-delayed shipments.</a:t>
            </a:r>
          </a:p>
          <a:p>
            <a:pPr marL="0" indent="0">
              <a:lnSpc>
                <a:spcPct val="120000"/>
              </a:lnSpc>
              <a:spcBef>
                <a:spcPts val="200"/>
              </a:spcBef>
              <a:buNone/>
            </a:pPr>
            <a:r>
              <a:rPr lang="en-US" sz="4600" dirty="0">
                <a:latin typeface="Arial" panose="020B0604020202020204" pitchFamily="34" charset="0"/>
                <a:cs typeface="Arial" panose="020B0604020202020204" pitchFamily="34" charset="0"/>
              </a:rPr>
              <a:t>From </a:t>
            </a:r>
            <a:r>
              <a:rPr lang="en-US" sz="4600" b="1" dirty="0">
                <a:latin typeface="Arial" panose="020B0604020202020204" pitchFamily="34" charset="0"/>
                <a:cs typeface="Arial" panose="020B0604020202020204" pitchFamily="34" charset="0"/>
              </a:rPr>
              <a:t>predictions</a:t>
            </a:r>
            <a:r>
              <a:rPr lang="en-US" sz="4600" dirty="0">
                <a:latin typeface="Arial" panose="020B0604020202020204" pitchFamily="34" charset="0"/>
                <a:cs typeface="Arial" panose="020B0604020202020204" pitchFamily="34" charset="0"/>
              </a:rPr>
              <a:t>:</a:t>
            </a:r>
          </a:p>
          <a:p>
            <a:pPr>
              <a:lnSpc>
                <a:spcPct val="120000"/>
              </a:lnSpc>
              <a:spcBef>
                <a:spcPts val="200"/>
              </a:spcBef>
            </a:pPr>
            <a:r>
              <a:rPr lang="en-US" sz="4600" dirty="0">
                <a:latin typeface="Arial" panose="020B0604020202020204" pitchFamily="34" charset="0"/>
                <a:cs typeface="Arial" panose="020B0604020202020204" pitchFamily="34" charset="0"/>
              </a:rPr>
              <a:t>Overall delay risk: </a:t>
            </a:r>
            <a:r>
              <a:rPr lang="en-US" sz="4600" b="1" dirty="0">
                <a:latin typeface="Arial" panose="020B0604020202020204" pitchFamily="34" charset="0"/>
                <a:cs typeface="Arial" panose="020B0604020202020204" pitchFamily="34" charset="0"/>
              </a:rPr>
              <a:t>34.91%</a:t>
            </a:r>
            <a:endParaRPr lang="en-US" sz="4600" dirty="0">
              <a:latin typeface="Arial" panose="020B0604020202020204" pitchFamily="34" charset="0"/>
              <a:cs typeface="Arial" panose="020B0604020202020204" pitchFamily="34" charset="0"/>
            </a:endParaRPr>
          </a:p>
          <a:p>
            <a:pPr>
              <a:lnSpc>
                <a:spcPct val="120000"/>
              </a:lnSpc>
              <a:spcBef>
                <a:spcPts val="200"/>
              </a:spcBef>
            </a:pPr>
            <a:r>
              <a:rPr lang="en-US" sz="4600" dirty="0">
                <a:latin typeface="Arial" panose="020B0604020202020204" pitchFamily="34" charset="0"/>
                <a:cs typeface="Arial" panose="020B0604020202020204" pitchFamily="34" charset="0"/>
              </a:rPr>
              <a:t>This aligns well with real-world expectations.</a:t>
            </a:r>
          </a:p>
          <a:p>
            <a:pPr marL="0" indent="0">
              <a:lnSpc>
                <a:spcPct val="120000"/>
              </a:lnSpc>
              <a:spcBef>
                <a:spcPts val="200"/>
              </a:spcBef>
              <a:buNone/>
            </a:pPr>
            <a:endParaRPr lang="en-US" sz="4600" dirty="0">
              <a:latin typeface="Arial" panose="020B0604020202020204" pitchFamily="34" charset="0"/>
              <a:cs typeface="Arial" panose="020B0604020202020204" pitchFamily="34" charset="0"/>
            </a:endParaRPr>
          </a:p>
          <a:p>
            <a:pPr marL="0" indent="0">
              <a:lnSpc>
                <a:spcPct val="120000"/>
              </a:lnSpc>
              <a:spcBef>
                <a:spcPts val="200"/>
              </a:spcBef>
              <a:buNone/>
            </a:pPr>
            <a:r>
              <a:rPr lang="en-US" sz="4600" b="1" dirty="0">
                <a:latin typeface="Arial" panose="020B0604020202020204" pitchFamily="34" charset="0"/>
                <a:cs typeface="Arial" panose="020B0604020202020204" pitchFamily="34" charset="0"/>
              </a:rPr>
              <a:t>Trade-offs</a:t>
            </a:r>
            <a:r>
              <a:rPr lang="en-US" sz="4600" dirty="0">
                <a:latin typeface="Arial" panose="020B0604020202020204" pitchFamily="34" charset="0"/>
                <a:cs typeface="Arial" panose="020B0604020202020204" pitchFamily="34" charset="0"/>
              </a:rPr>
              <a:t>:</a:t>
            </a:r>
          </a:p>
          <a:p>
            <a:pPr>
              <a:lnSpc>
                <a:spcPct val="120000"/>
              </a:lnSpc>
              <a:spcBef>
                <a:spcPts val="200"/>
              </a:spcBef>
            </a:pPr>
            <a:r>
              <a:rPr lang="en-US" sz="4600" dirty="0">
                <a:latin typeface="Arial" panose="020B0604020202020204" pitchFamily="34" charset="0"/>
                <a:cs typeface="Arial" panose="020B0604020202020204" pitchFamily="34" charset="0"/>
              </a:rPr>
              <a:t>Model favors interpretability and robustness over extreme accuracy.</a:t>
            </a:r>
          </a:p>
          <a:p>
            <a:pPr>
              <a:lnSpc>
                <a:spcPct val="120000"/>
              </a:lnSpc>
              <a:spcBef>
                <a:spcPts val="200"/>
              </a:spcBef>
            </a:pPr>
            <a:r>
              <a:rPr lang="en-US" sz="4600" dirty="0">
                <a:latin typeface="Arial" panose="020B0604020202020204" pitchFamily="34" charset="0"/>
                <a:cs typeface="Arial" panose="020B0604020202020204" pitchFamily="34" charset="0"/>
              </a:rPr>
              <a:t>Can be further tuned for improvement.</a:t>
            </a:r>
          </a:p>
          <a:p>
            <a:endParaRPr lang="en-IN" dirty="0"/>
          </a:p>
        </p:txBody>
      </p:sp>
    </p:spTree>
    <p:extLst>
      <p:ext uri="{BB962C8B-B14F-4D97-AF65-F5344CB8AC3E}">
        <p14:creationId xmlns:p14="http://schemas.microsoft.com/office/powerpoint/2010/main" val="4097872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6696D-773A-9630-BF58-A9F500DB7498}"/>
              </a:ext>
            </a:extLst>
          </p:cNvPr>
          <p:cNvSpPr>
            <a:spLocks noGrp="1"/>
          </p:cNvSpPr>
          <p:nvPr>
            <p:ph type="title"/>
          </p:nvPr>
        </p:nvSpPr>
        <p:spPr>
          <a:xfrm>
            <a:off x="838200" y="97103"/>
            <a:ext cx="10515600" cy="1325563"/>
          </a:xfrm>
        </p:spPr>
        <p:txBody>
          <a:bodyPr/>
          <a:lstStyle/>
          <a:p>
            <a:pPr algn="ctr"/>
            <a:r>
              <a:rPr lang="en-IN" dirty="0"/>
              <a:t>MLflow Experiment Tracking</a:t>
            </a:r>
          </a:p>
        </p:txBody>
      </p:sp>
      <p:sp>
        <p:nvSpPr>
          <p:cNvPr id="3" name="Content Placeholder 2">
            <a:extLst>
              <a:ext uri="{FF2B5EF4-FFF2-40B4-BE49-F238E27FC236}">
                <a16:creationId xmlns:a16="http://schemas.microsoft.com/office/drawing/2014/main" id="{4FE2E30F-901E-86ED-15F4-DA37E7EB789F}"/>
              </a:ext>
            </a:extLst>
          </p:cNvPr>
          <p:cNvSpPr>
            <a:spLocks noGrp="1"/>
          </p:cNvSpPr>
          <p:nvPr>
            <p:ph idx="1"/>
          </p:nvPr>
        </p:nvSpPr>
        <p:spPr>
          <a:xfrm>
            <a:off x="488733" y="1652209"/>
            <a:ext cx="11272344" cy="4998326"/>
          </a:xfrm>
        </p:spPr>
        <p:txBody>
          <a:bodyPr>
            <a:normAutofit fontScale="92500" lnSpcReduction="20000"/>
          </a:bodyPr>
          <a:lstStyle/>
          <a:p>
            <a:pPr marL="0" indent="0">
              <a:buNone/>
            </a:pPr>
            <a:r>
              <a:rPr lang="en-US" sz="2400" dirty="0">
                <a:latin typeface="Arial" panose="020B0604020202020204" pitchFamily="34" charset="0"/>
                <a:cs typeface="Arial" panose="020B0604020202020204" pitchFamily="34" charset="0"/>
              </a:rPr>
              <a:t>MLflow was used to manage the machine learning lifecycle.</a:t>
            </a:r>
          </a:p>
          <a:p>
            <a:pPr marL="0" indent="0">
              <a:buNone/>
            </a:pPr>
            <a:endParaRPr lang="en-US" sz="2400" dirty="0">
              <a:latin typeface="Arial" panose="020B0604020202020204" pitchFamily="34" charset="0"/>
              <a:cs typeface="Arial" panose="020B0604020202020204" pitchFamily="34" charset="0"/>
            </a:endParaRPr>
          </a:p>
          <a:p>
            <a:pPr marL="0" indent="0">
              <a:buNone/>
            </a:pPr>
            <a:r>
              <a:rPr lang="en-US" sz="2400" dirty="0">
                <a:latin typeface="Arial" panose="020B0604020202020204" pitchFamily="34" charset="0"/>
                <a:cs typeface="Arial" panose="020B0604020202020204" pitchFamily="34" charset="0"/>
              </a:rPr>
              <a:t>During model training:</a:t>
            </a:r>
          </a:p>
          <a:p>
            <a:r>
              <a:rPr lang="en-US" sz="2400" dirty="0">
                <a:latin typeface="Arial" panose="020B0604020202020204" pitchFamily="34" charset="0"/>
                <a:cs typeface="Arial" panose="020B0604020202020204" pitchFamily="34" charset="0"/>
              </a:rPr>
              <a:t>Parameters such as number of trees were logged.</a:t>
            </a:r>
          </a:p>
          <a:p>
            <a:r>
              <a:rPr lang="en-US" sz="2400" dirty="0">
                <a:latin typeface="Arial" panose="020B0604020202020204" pitchFamily="34" charset="0"/>
                <a:cs typeface="Arial" panose="020B0604020202020204" pitchFamily="34" charset="0"/>
              </a:rPr>
              <a:t>Evaluation metric (AUC) was recorded.</a:t>
            </a:r>
          </a:p>
          <a:p>
            <a:r>
              <a:rPr lang="en-US" sz="2400" dirty="0">
                <a:latin typeface="Arial" panose="020B0604020202020204" pitchFamily="34" charset="0"/>
                <a:cs typeface="Arial" panose="020B0604020202020204" pitchFamily="34" charset="0"/>
              </a:rPr>
              <a:t>Each run was tracked for reproducibility.</a:t>
            </a:r>
          </a:p>
          <a:p>
            <a:endParaRPr lang="en-US" sz="2400" dirty="0">
              <a:latin typeface="Arial" panose="020B0604020202020204" pitchFamily="34" charset="0"/>
              <a:cs typeface="Arial" panose="020B0604020202020204" pitchFamily="34" charset="0"/>
            </a:endParaRPr>
          </a:p>
          <a:p>
            <a:pPr marL="0" indent="0">
              <a:buNone/>
            </a:pPr>
            <a:r>
              <a:rPr lang="en-US" sz="2400" dirty="0">
                <a:latin typeface="Arial" panose="020B0604020202020204" pitchFamily="34" charset="0"/>
                <a:cs typeface="Arial" panose="020B0604020202020204" pitchFamily="34" charset="0"/>
              </a:rPr>
              <a:t>This allows:</a:t>
            </a:r>
          </a:p>
          <a:p>
            <a:r>
              <a:rPr lang="en-US" sz="2400" dirty="0">
                <a:latin typeface="Arial" panose="020B0604020202020204" pitchFamily="34" charset="0"/>
                <a:cs typeface="Arial" panose="020B0604020202020204" pitchFamily="34" charset="0"/>
              </a:rPr>
              <a:t>Comparing different model runs.</a:t>
            </a:r>
          </a:p>
          <a:p>
            <a:r>
              <a:rPr lang="en-US" sz="2400" dirty="0">
                <a:latin typeface="Arial" panose="020B0604020202020204" pitchFamily="34" charset="0"/>
                <a:cs typeface="Arial" panose="020B0604020202020204" pitchFamily="34" charset="0"/>
              </a:rPr>
              <a:t>Tracking improvements.</a:t>
            </a:r>
          </a:p>
          <a:p>
            <a:r>
              <a:rPr lang="en-US" sz="2400" dirty="0">
                <a:latin typeface="Arial" panose="020B0604020202020204" pitchFamily="34" charset="0"/>
                <a:cs typeface="Arial" panose="020B0604020202020204" pitchFamily="34" charset="0"/>
              </a:rPr>
              <a:t>Managing model versions.</a:t>
            </a:r>
          </a:p>
          <a:p>
            <a:endParaRPr lang="en-US" sz="2400" dirty="0">
              <a:latin typeface="Arial" panose="020B0604020202020204" pitchFamily="34" charset="0"/>
              <a:cs typeface="Arial" panose="020B0604020202020204" pitchFamily="34" charset="0"/>
            </a:endParaRPr>
          </a:p>
          <a:p>
            <a:pPr marL="0" indent="0">
              <a:buNone/>
            </a:pPr>
            <a:r>
              <a:rPr lang="en-US" sz="2400" dirty="0">
                <a:latin typeface="Arial" panose="020B0604020202020204" pitchFamily="34" charset="0"/>
                <a:cs typeface="Arial" panose="020B0604020202020204" pitchFamily="34" charset="0"/>
              </a:rPr>
              <a:t>This ensures transparency and reproducibility in the ML pipeline.</a:t>
            </a:r>
          </a:p>
          <a:p>
            <a:endParaRPr lang="en-IN" dirty="0"/>
          </a:p>
        </p:txBody>
      </p:sp>
    </p:spTree>
    <p:extLst>
      <p:ext uri="{BB962C8B-B14F-4D97-AF65-F5344CB8AC3E}">
        <p14:creationId xmlns:p14="http://schemas.microsoft.com/office/powerpoint/2010/main" val="4104894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E456B-1B70-5895-0187-7A9DF06A94E8}"/>
              </a:ext>
            </a:extLst>
          </p:cNvPr>
          <p:cNvSpPr>
            <a:spLocks noGrp="1"/>
          </p:cNvSpPr>
          <p:nvPr>
            <p:ph type="title"/>
          </p:nvPr>
        </p:nvSpPr>
        <p:spPr>
          <a:xfrm>
            <a:off x="882870" y="31532"/>
            <a:ext cx="10515600" cy="1325563"/>
          </a:xfrm>
        </p:spPr>
        <p:txBody>
          <a:bodyPr/>
          <a:lstStyle/>
          <a:p>
            <a:pPr algn="ctr"/>
            <a:r>
              <a:rPr lang="en-US" dirty="0"/>
              <a:t>Data Pipeline ↔ AI Workflow Integration</a:t>
            </a:r>
            <a:endParaRPr lang="en-IN" dirty="0"/>
          </a:p>
        </p:txBody>
      </p:sp>
      <p:sp>
        <p:nvSpPr>
          <p:cNvPr id="3" name="Content Placeholder 2">
            <a:extLst>
              <a:ext uri="{FF2B5EF4-FFF2-40B4-BE49-F238E27FC236}">
                <a16:creationId xmlns:a16="http://schemas.microsoft.com/office/drawing/2014/main" id="{3E144C06-3517-C187-2FB4-A505FDC98237}"/>
              </a:ext>
            </a:extLst>
          </p:cNvPr>
          <p:cNvSpPr>
            <a:spLocks noGrp="1"/>
          </p:cNvSpPr>
          <p:nvPr>
            <p:ph idx="1"/>
          </p:nvPr>
        </p:nvSpPr>
        <p:spPr>
          <a:xfrm>
            <a:off x="394138" y="1529255"/>
            <a:ext cx="11430000" cy="5186856"/>
          </a:xfrm>
        </p:spPr>
        <p:txBody>
          <a:bodyPr>
            <a:normAutofit fontScale="77500" lnSpcReduction="20000"/>
          </a:bodyPr>
          <a:lstStyle/>
          <a:p>
            <a:pPr marL="0" indent="0">
              <a:buNone/>
            </a:pPr>
            <a:r>
              <a:rPr lang="en-US" dirty="0">
                <a:latin typeface="Arial" panose="020B0604020202020204" pitchFamily="34" charset="0"/>
                <a:cs typeface="Arial" panose="020B0604020202020204" pitchFamily="34" charset="0"/>
              </a:rPr>
              <a:t>The project integrates data engineering and machine learning seamlessly.</a:t>
            </a:r>
          </a:p>
          <a:p>
            <a:pPr marL="0" indent="0">
              <a:buNone/>
            </a:pP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Data is ingested and stored in Bronze layer.</a:t>
            </a:r>
          </a:p>
          <a:p>
            <a:r>
              <a:rPr lang="en-US" dirty="0">
                <a:latin typeface="Arial" panose="020B0604020202020204" pitchFamily="34" charset="0"/>
                <a:cs typeface="Arial" panose="020B0604020202020204" pitchFamily="34" charset="0"/>
              </a:rPr>
              <a:t>Cleaned and transformed in Silver layer.</a:t>
            </a:r>
          </a:p>
          <a:p>
            <a:r>
              <a:rPr lang="en-US" dirty="0">
                <a:latin typeface="Arial" panose="020B0604020202020204" pitchFamily="34" charset="0"/>
                <a:cs typeface="Arial" panose="020B0604020202020204" pitchFamily="34" charset="0"/>
              </a:rPr>
              <a:t>Feature engineered in Gold layer.</a:t>
            </a:r>
          </a:p>
          <a:p>
            <a:r>
              <a:rPr lang="en-US" dirty="0">
                <a:latin typeface="Arial" panose="020B0604020202020204" pitchFamily="34" charset="0"/>
                <a:cs typeface="Arial" panose="020B0604020202020204" pitchFamily="34" charset="0"/>
              </a:rPr>
              <a:t>ML model consumes Gold data.</a:t>
            </a:r>
          </a:p>
          <a:p>
            <a:r>
              <a:rPr lang="en-US" dirty="0">
                <a:latin typeface="Arial" panose="020B0604020202020204" pitchFamily="34" charset="0"/>
                <a:cs typeface="Arial" panose="020B0604020202020204" pitchFamily="34" charset="0"/>
              </a:rPr>
              <a:t>Predictions are written back to Gold layer.</a:t>
            </a: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Final prediction table:   </a:t>
            </a:r>
            <a:r>
              <a:rPr lang="en-US" dirty="0" err="1">
                <a:latin typeface="Arial" panose="020B0604020202020204" pitchFamily="34" charset="0"/>
                <a:cs typeface="Arial" panose="020B0604020202020204" pitchFamily="34" charset="0"/>
              </a:rPr>
              <a:t>supply_chain_ai.gold.shipping_delay_predictions</a:t>
            </a: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This ensures:</a:t>
            </a:r>
          </a:p>
          <a:p>
            <a:r>
              <a:rPr lang="en-US" dirty="0">
                <a:latin typeface="Arial" panose="020B0604020202020204" pitchFamily="34" charset="0"/>
                <a:cs typeface="Arial" panose="020B0604020202020204" pitchFamily="34" charset="0"/>
              </a:rPr>
              <a:t>End-to-end automation.</a:t>
            </a:r>
          </a:p>
          <a:p>
            <a:r>
              <a:rPr lang="en-US" dirty="0">
                <a:latin typeface="Arial" panose="020B0604020202020204" pitchFamily="34" charset="0"/>
                <a:cs typeface="Arial" panose="020B0604020202020204" pitchFamily="34" charset="0"/>
              </a:rPr>
              <a:t>Reusability of datasets.</a:t>
            </a:r>
          </a:p>
          <a:p>
            <a:r>
              <a:rPr lang="en-US" dirty="0">
                <a:latin typeface="Arial" panose="020B0604020202020204" pitchFamily="34" charset="0"/>
                <a:cs typeface="Arial" panose="020B0604020202020204" pitchFamily="34" charset="0"/>
              </a:rPr>
              <a:t>Consistent data flow.</a:t>
            </a:r>
          </a:p>
          <a:p>
            <a:endParaRPr lang="en-IN" dirty="0"/>
          </a:p>
        </p:txBody>
      </p:sp>
    </p:spTree>
    <p:extLst>
      <p:ext uri="{BB962C8B-B14F-4D97-AF65-F5344CB8AC3E}">
        <p14:creationId xmlns:p14="http://schemas.microsoft.com/office/powerpoint/2010/main" val="2754649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93FF0-B3F0-769B-5C0B-DF35AAB3E4B4}"/>
              </a:ext>
            </a:extLst>
          </p:cNvPr>
          <p:cNvSpPr>
            <a:spLocks noGrp="1"/>
          </p:cNvSpPr>
          <p:nvPr>
            <p:ph type="title"/>
          </p:nvPr>
        </p:nvSpPr>
        <p:spPr>
          <a:xfrm>
            <a:off x="838200" y="18282"/>
            <a:ext cx="10515600" cy="927650"/>
          </a:xfrm>
        </p:spPr>
        <p:txBody>
          <a:bodyPr/>
          <a:lstStyle/>
          <a:p>
            <a:pPr algn="ctr"/>
            <a:r>
              <a:rPr lang="en-IN" dirty="0"/>
              <a:t>Business Impact &amp; Practical Use</a:t>
            </a:r>
          </a:p>
        </p:txBody>
      </p:sp>
      <p:sp>
        <p:nvSpPr>
          <p:cNvPr id="3" name="Content Placeholder 2">
            <a:extLst>
              <a:ext uri="{FF2B5EF4-FFF2-40B4-BE49-F238E27FC236}">
                <a16:creationId xmlns:a16="http://schemas.microsoft.com/office/drawing/2014/main" id="{1A302E5B-DE17-C8D4-DE11-BEBA3F21926D}"/>
              </a:ext>
            </a:extLst>
          </p:cNvPr>
          <p:cNvSpPr>
            <a:spLocks noGrp="1"/>
          </p:cNvSpPr>
          <p:nvPr>
            <p:ph idx="1"/>
          </p:nvPr>
        </p:nvSpPr>
        <p:spPr>
          <a:xfrm>
            <a:off x="457200" y="945932"/>
            <a:ext cx="11382705" cy="5912068"/>
          </a:xfrm>
        </p:spPr>
        <p:txBody>
          <a:bodyPr>
            <a:normAutofit fontScale="25000" lnSpcReduction="20000"/>
          </a:bodyPr>
          <a:lstStyle/>
          <a:p>
            <a:pPr marL="0" indent="0">
              <a:lnSpc>
                <a:spcPct val="120000"/>
              </a:lnSpc>
              <a:spcBef>
                <a:spcPts val="200"/>
              </a:spcBef>
              <a:buNone/>
            </a:pPr>
            <a:r>
              <a:rPr lang="en-US" sz="8000" b="1" dirty="0">
                <a:latin typeface="Arial" panose="020B0604020202020204" pitchFamily="34" charset="0"/>
                <a:cs typeface="Arial" panose="020B0604020202020204" pitchFamily="34" charset="0"/>
              </a:rPr>
              <a:t>AI-Powered Supply Chain Risk Intelligence System </a:t>
            </a:r>
            <a:r>
              <a:rPr lang="en-US" sz="8000" dirty="0">
                <a:latin typeface="Arial" panose="020B0604020202020204" pitchFamily="34" charset="0"/>
                <a:cs typeface="Arial" panose="020B0604020202020204" pitchFamily="34" charset="0"/>
              </a:rPr>
              <a:t>provides strong business value by converting raw data into actionable insights.</a:t>
            </a:r>
          </a:p>
          <a:p>
            <a:pPr marL="0" indent="0">
              <a:lnSpc>
                <a:spcPct val="120000"/>
              </a:lnSpc>
              <a:spcBef>
                <a:spcPts val="200"/>
              </a:spcBef>
              <a:buNone/>
            </a:pPr>
            <a:r>
              <a:rPr lang="en-US" sz="8000" dirty="0">
                <a:latin typeface="Arial" panose="020B0604020202020204" pitchFamily="34" charset="0"/>
                <a:cs typeface="Arial" panose="020B0604020202020204" pitchFamily="34" charset="0"/>
              </a:rPr>
              <a:t>Key insights: </a:t>
            </a:r>
          </a:p>
          <a:p>
            <a:pPr>
              <a:lnSpc>
                <a:spcPct val="120000"/>
              </a:lnSpc>
              <a:spcBef>
                <a:spcPts val="200"/>
              </a:spcBef>
            </a:pPr>
            <a:r>
              <a:rPr lang="en-US" sz="8000" b="1" dirty="0">
                <a:latin typeface="Arial" panose="020B0604020202020204" pitchFamily="34" charset="0"/>
                <a:cs typeface="Arial" panose="020B0604020202020204" pitchFamily="34" charset="0"/>
              </a:rPr>
              <a:t>34.91% shipments are at risk of delay.</a:t>
            </a:r>
            <a:endParaRPr lang="en-US" sz="8000" dirty="0">
              <a:latin typeface="Arial" panose="020B0604020202020204" pitchFamily="34" charset="0"/>
              <a:cs typeface="Arial" panose="020B0604020202020204" pitchFamily="34" charset="0"/>
            </a:endParaRPr>
          </a:p>
          <a:p>
            <a:pPr>
              <a:lnSpc>
                <a:spcPct val="120000"/>
              </a:lnSpc>
              <a:spcBef>
                <a:spcPts val="200"/>
              </a:spcBef>
            </a:pPr>
            <a:r>
              <a:rPr lang="en-US" sz="8000" dirty="0">
                <a:latin typeface="Arial" panose="020B0604020202020204" pitchFamily="34" charset="0"/>
                <a:cs typeface="Arial" panose="020B0604020202020204" pitchFamily="34" charset="0"/>
              </a:rPr>
              <a:t>Ship mode has highest delay risk. (</a:t>
            </a:r>
            <a:r>
              <a:rPr lang="en-US" sz="8000" b="1" dirty="0">
                <a:latin typeface="Arial" panose="020B0604020202020204" pitchFamily="34" charset="0"/>
                <a:cs typeface="Arial" panose="020B0604020202020204" pitchFamily="34" charset="0"/>
              </a:rPr>
              <a:t>35.4%</a:t>
            </a:r>
            <a:r>
              <a:rPr lang="en-US" sz="8000" dirty="0">
                <a:latin typeface="Arial" panose="020B0604020202020204" pitchFamily="34" charset="0"/>
                <a:cs typeface="Arial" panose="020B0604020202020204" pitchFamily="34" charset="0"/>
              </a:rPr>
              <a:t>)</a:t>
            </a:r>
          </a:p>
          <a:p>
            <a:pPr>
              <a:lnSpc>
                <a:spcPct val="120000"/>
              </a:lnSpc>
              <a:spcBef>
                <a:spcPts val="200"/>
              </a:spcBef>
            </a:pPr>
            <a:r>
              <a:rPr lang="en-US" sz="8000" dirty="0">
                <a:latin typeface="Arial" panose="020B0604020202020204" pitchFamily="34" charset="0"/>
                <a:cs typeface="Arial" panose="020B0604020202020204" pitchFamily="34" charset="0"/>
              </a:rPr>
              <a:t>Warehouse Block 0 has highest delay probability. (</a:t>
            </a:r>
            <a:r>
              <a:rPr lang="en-US" sz="8000" b="1" dirty="0">
                <a:latin typeface="Arial" panose="020B0604020202020204" pitchFamily="34" charset="0"/>
                <a:cs typeface="Arial" panose="020B0604020202020204" pitchFamily="34" charset="0"/>
              </a:rPr>
              <a:t>40.08%</a:t>
            </a:r>
            <a:r>
              <a:rPr lang="en-US" sz="8000" dirty="0">
                <a:latin typeface="Arial" panose="020B0604020202020204" pitchFamily="34" charset="0"/>
                <a:cs typeface="Arial" panose="020B0604020202020204" pitchFamily="34" charset="0"/>
              </a:rPr>
              <a:t>)</a:t>
            </a:r>
          </a:p>
          <a:p>
            <a:pPr marL="0" indent="0">
              <a:lnSpc>
                <a:spcPct val="120000"/>
              </a:lnSpc>
              <a:spcBef>
                <a:spcPts val="200"/>
              </a:spcBef>
              <a:buNone/>
            </a:pPr>
            <a:endParaRPr lang="en-US" sz="8000" dirty="0">
              <a:latin typeface="Arial" panose="020B0604020202020204" pitchFamily="34" charset="0"/>
              <a:cs typeface="Arial" panose="020B0604020202020204" pitchFamily="34" charset="0"/>
            </a:endParaRPr>
          </a:p>
          <a:p>
            <a:pPr marL="0" indent="0">
              <a:lnSpc>
                <a:spcPct val="120000"/>
              </a:lnSpc>
              <a:spcBef>
                <a:spcPts val="200"/>
              </a:spcBef>
              <a:buNone/>
            </a:pPr>
            <a:r>
              <a:rPr lang="en-US" sz="8000" dirty="0">
                <a:latin typeface="Arial" panose="020B0604020202020204" pitchFamily="34" charset="0"/>
                <a:cs typeface="Arial" panose="020B0604020202020204" pitchFamily="34" charset="0"/>
              </a:rPr>
              <a:t>These insights help:</a:t>
            </a:r>
          </a:p>
          <a:p>
            <a:pPr>
              <a:lnSpc>
                <a:spcPct val="120000"/>
              </a:lnSpc>
              <a:spcBef>
                <a:spcPts val="200"/>
              </a:spcBef>
            </a:pPr>
            <a:r>
              <a:rPr lang="en-US" sz="8000" dirty="0">
                <a:latin typeface="Arial" panose="020B0604020202020204" pitchFamily="34" charset="0"/>
                <a:cs typeface="Arial" panose="020B0604020202020204" pitchFamily="34" charset="0"/>
              </a:rPr>
              <a:t>Logistics teams prioritize shipments.</a:t>
            </a:r>
          </a:p>
          <a:p>
            <a:pPr>
              <a:lnSpc>
                <a:spcPct val="120000"/>
              </a:lnSpc>
              <a:spcBef>
                <a:spcPts val="200"/>
              </a:spcBef>
            </a:pPr>
            <a:r>
              <a:rPr lang="en-US" sz="8000" dirty="0">
                <a:latin typeface="Arial" panose="020B0604020202020204" pitchFamily="34" charset="0"/>
                <a:cs typeface="Arial" panose="020B0604020202020204" pitchFamily="34" charset="0"/>
              </a:rPr>
              <a:t>Identify high-risk warehouses.</a:t>
            </a:r>
          </a:p>
          <a:p>
            <a:pPr>
              <a:lnSpc>
                <a:spcPct val="120000"/>
              </a:lnSpc>
              <a:spcBef>
                <a:spcPts val="200"/>
              </a:spcBef>
            </a:pPr>
            <a:r>
              <a:rPr lang="en-US" sz="8000" dirty="0">
                <a:latin typeface="Arial" panose="020B0604020202020204" pitchFamily="34" charset="0"/>
                <a:cs typeface="Arial" panose="020B0604020202020204" pitchFamily="34" charset="0"/>
              </a:rPr>
              <a:t>Optimize shipment modes.</a:t>
            </a:r>
          </a:p>
          <a:p>
            <a:pPr marL="0" indent="0">
              <a:lnSpc>
                <a:spcPct val="120000"/>
              </a:lnSpc>
              <a:spcBef>
                <a:spcPts val="200"/>
              </a:spcBef>
              <a:buNone/>
            </a:pPr>
            <a:endParaRPr lang="en-US" sz="8000" dirty="0">
              <a:latin typeface="Arial" panose="020B0604020202020204" pitchFamily="34" charset="0"/>
              <a:cs typeface="Arial" panose="020B0604020202020204" pitchFamily="34" charset="0"/>
            </a:endParaRPr>
          </a:p>
          <a:p>
            <a:pPr marL="0" indent="0">
              <a:lnSpc>
                <a:spcPct val="120000"/>
              </a:lnSpc>
              <a:spcBef>
                <a:spcPts val="200"/>
              </a:spcBef>
              <a:buNone/>
            </a:pPr>
            <a:r>
              <a:rPr lang="en-US" sz="8000" dirty="0">
                <a:latin typeface="Arial" panose="020B0604020202020204" pitchFamily="34" charset="0"/>
                <a:cs typeface="Arial" panose="020B0604020202020204" pitchFamily="34" charset="0"/>
              </a:rPr>
              <a:t>High-risk shipment identification (prediction ≥ 0.7) enables:</a:t>
            </a:r>
          </a:p>
          <a:p>
            <a:pPr>
              <a:lnSpc>
                <a:spcPct val="120000"/>
              </a:lnSpc>
              <a:spcBef>
                <a:spcPts val="200"/>
              </a:spcBef>
            </a:pPr>
            <a:r>
              <a:rPr lang="en-US" sz="8000" dirty="0">
                <a:latin typeface="Arial" panose="020B0604020202020204" pitchFamily="34" charset="0"/>
                <a:cs typeface="Arial" panose="020B0604020202020204" pitchFamily="34" charset="0"/>
              </a:rPr>
              <a:t>Proactive decision-making.</a:t>
            </a:r>
          </a:p>
          <a:p>
            <a:pPr>
              <a:lnSpc>
                <a:spcPct val="120000"/>
              </a:lnSpc>
              <a:spcBef>
                <a:spcPts val="200"/>
              </a:spcBef>
            </a:pPr>
            <a:r>
              <a:rPr lang="en-US" sz="8000" dirty="0">
                <a:latin typeface="Arial" panose="020B0604020202020204" pitchFamily="34" charset="0"/>
                <a:cs typeface="Arial" panose="020B0604020202020204" pitchFamily="34" charset="0"/>
              </a:rPr>
              <a:t>Reduced delays.</a:t>
            </a:r>
          </a:p>
          <a:p>
            <a:pPr>
              <a:lnSpc>
                <a:spcPct val="120000"/>
              </a:lnSpc>
              <a:spcBef>
                <a:spcPts val="200"/>
              </a:spcBef>
            </a:pPr>
            <a:r>
              <a:rPr lang="en-US" sz="8000" dirty="0">
                <a:latin typeface="Arial" panose="020B0604020202020204" pitchFamily="34" charset="0"/>
                <a:cs typeface="Arial" panose="020B0604020202020204" pitchFamily="34" charset="0"/>
              </a:rPr>
              <a:t>Improved customer satisfaction.</a:t>
            </a:r>
          </a:p>
          <a:p>
            <a:pPr>
              <a:lnSpc>
                <a:spcPct val="120000"/>
              </a:lnSpc>
              <a:spcBef>
                <a:spcPts val="200"/>
              </a:spcBef>
            </a:pPr>
            <a:r>
              <a:rPr lang="en-US" sz="8000" dirty="0">
                <a:latin typeface="Arial" panose="020B0604020202020204" pitchFamily="34" charset="0"/>
                <a:cs typeface="Arial" panose="020B0604020202020204" pitchFamily="34" charset="0"/>
              </a:rPr>
              <a:t>This makes the solution highly practical and impactful.</a:t>
            </a:r>
          </a:p>
          <a:p>
            <a:endParaRPr lang="en-IN" dirty="0"/>
          </a:p>
        </p:txBody>
      </p:sp>
    </p:spTree>
    <p:extLst>
      <p:ext uri="{BB962C8B-B14F-4D97-AF65-F5344CB8AC3E}">
        <p14:creationId xmlns:p14="http://schemas.microsoft.com/office/powerpoint/2010/main" val="2559704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1" name="Rectangle 2060">
            <a:extLst>
              <a:ext uri="{FF2B5EF4-FFF2-40B4-BE49-F238E27FC236}">
                <a16:creationId xmlns:a16="http://schemas.microsoft.com/office/drawing/2014/main" id="{C7F55EAC-550A-4BDD-9099-3F20B8FA0E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2" name="Freeform: Shape 2061">
            <a:extLst>
              <a:ext uri="{FF2B5EF4-FFF2-40B4-BE49-F238E27FC236}">
                <a16:creationId xmlns:a16="http://schemas.microsoft.com/office/drawing/2014/main" id="{DC4F5A5F-493F-49AE-89B6-D5AF5EBC8B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6724001 w 12192000"/>
              <a:gd name="connsiteY0" fmla="*/ 434021 h 6858000"/>
              <a:gd name="connsiteX1" fmla="*/ 6471155 w 12192000"/>
              <a:gd name="connsiteY1" fmla="*/ 434599 h 6858000"/>
              <a:gd name="connsiteX2" fmla="*/ 5384913 w 12192000"/>
              <a:gd name="connsiteY2" fmla="*/ 497971 h 6858000"/>
              <a:gd name="connsiteX3" fmla="*/ 4818280 w 12192000"/>
              <a:gd name="connsiteY3" fmla="*/ 541802 h 6858000"/>
              <a:gd name="connsiteX4" fmla="*/ 3965428 w 12192000"/>
              <a:gd name="connsiteY4" fmla="*/ 675942 h 6858000"/>
              <a:gd name="connsiteX5" fmla="*/ 3699528 w 12192000"/>
              <a:gd name="connsiteY5" fmla="*/ 770472 h 6858000"/>
              <a:gd name="connsiteX6" fmla="*/ 3438854 w 12192000"/>
              <a:gd name="connsiteY6" fmla="*/ 834899 h 6858000"/>
              <a:gd name="connsiteX7" fmla="*/ 3367443 w 12192000"/>
              <a:gd name="connsiteY7" fmla="*/ 893518 h 6858000"/>
              <a:gd name="connsiteX8" fmla="*/ 3467301 w 12192000"/>
              <a:gd name="connsiteY8" fmla="*/ 953722 h 6858000"/>
              <a:gd name="connsiteX9" fmla="*/ 3889955 w 12192000"/>
              <a:gd name="connsiteY9" fmla="*/ 977486 h 6858000"/>
              <a:gd name="connsiteX10" fmla="*/ 3502135 w 12192000"/>
              <a:gd name="connsiteY10" fmla="*/ 1054062 h 6858000"/>
              <a:gd name="connsiteX11" fmla="*/ 4072832 w 12192000"/>
              <a:gd name="connsiteY11" fmla="*/ 1017622 h 6858000"/>
              <a:gd name="connsiteX12" fmla="*/ 4244099 w 12192000"/>
              <a:gd name="connsiteY12" fmla="*/ 1030825 h 6858000"/>
              <a:gd name="connsiteX13" fmla="*/ 4095475 w 12192000"/>
              <a:gd name="connsiteY13" fmla="*/ 1092084 h 6858000"/>
              <a:gd name="connsiteX14" fmla="*/ 3327386 w 12192000"/>
              <a:gd name="connsiteY14" fmla="*/ 1215660 h 6858000"/>
              <a:gd name="connsiteX15" fmla="*/ 3254813 w 12192000"/>
              <a:gd name="connsiteY15" fmla="*/ 1226749 h 6858000"/>
              <a:gd name="connsiteX16" fmla="*/ 2776427 w 12192000"/>
              <a:gd name="connsiteY16" fmla="*/ 1401552 h 6858000"/>
              <a:gd name="connsiteX17" fmla="*/ 3063226 w 12192000"/>
              <a:gd name="connsiteY17" fmla="*/ 1384124 h 6858000"/>
              <a:gd name="connsiteX18" fmla="*/ 2754945 w 12192000"/>
              <a:gd name="connsiteY18" fmla="*/ 1495025 h 6858000"/>
              <a:gd name="connsiteX19" fmla="*/ 2381061 w 12192000"/>
              <a:gd name="connsiteY19" fmla="*/ 1619658 h 6858000"/>
              <a:gd name="connsiteX20" fmla="*/ 2008336 w 12192000"/>
              <a:gd name="connsiteY20" fmla="*/ 1814527 h 6858000"/>
              <a:gd name="connsiteX21" fmla="*/ 1740695 w 12192000"/>
              <a:gd name="connsiteY21" fmla="*/ 1914337 h 6858000"/>
              <a:gd name="connsiteX22" fmla="*/ 1787720 w 12192000"/>
              <a:gd name="connsiteY22" fmla="*/ 1991970 h 6858000"/>
              <a:gd name="connsiteX23" fmla="*/ 1754048 w 12192000"/>
              <a:gd name="connsiteY23" fmla="*/ 2078049 h 6858000"/>
              <a:gd name="connsiteX24" fmla="*/ 2228951 w 12192000"/>
              <a:gd name="connsiteY24" fmla="*/ 1996721 h 6858000"/>
              <a:gd name="connsiteX25" fmla="*/ 2054781 w 12192000"/>
              <a:gd name="connsiteY25" fmla="*/ 2053228 h 6858000"/>
              <a:gd name="connsiteX26" fmla="*/ 1985693 w 12192000"/>
              <a:gd name="connsiteY26" fmla="*/ 2109207 h 6858000"/>
              <a:gd name="connsiteX27" fmla="*/ 2061168 w 12192000"/>
              <a:gd name="connsiteY27" fmla="*/ 2130859 h 6858000"/>
              <a:gd name="connsiteX28" fmla="*/ 2388026 w 12192000"/>
              <a:gd name="connsiteY28" fmla="*/ 2184726 h 6858000"/>
              <a:gd name="connsiteX29" fmla="*/ 1560719 w 12192000"/>
              <a:gd name="connsiteY29" fmla="*/ 2384876 h 6858000"/>
              <a:gd name="connsiteX30" fmla="*/ 1679734 w 12192000"/>
              <a:gd name="connsiteY30" fmla="*/ 2400191 h 6858000"/>
              <a:gd name="connsiteX31" fmla="*/ 2882089 w 12192000"/>
              <a:gd name="connsiteY31" fmla="*/ 2383292 h 6858000"/>
              <a:gd name="connsiteX32" fmla="*/ 3116638 w 12192000"/>
              <a:gd name="connsiteY32" fmla="*/ 2359528 h 6858000"/>
              <a:gd name="connsiteX33" fmla="*/ 2897765 w 12192000"/>
              <a:gd name="connsiteY33" fmla="*/ 2758243 h 6858000"/>
              <a:gd name="connsiteX34" fmla="*/ 2981367 w 12192000"/>
              <a:gd name="connsiteY34" fmla="*/ 2829008 h 6858000"/>
              <a:gd name="connsiteX35" fmla="*/ 2682955 w 12192000"/>
              <a:gd name="connsiteY35" fmla="*/ 2846436 h 6858000"/>
              <a:gd name="connsiteX36" fmla="*/ 2099485 w 12192000"/>
              <a:gd name="connsiteY36" fmla="*/ 3066653 h 6858000"/>
              <a:gd name="connsiteX37" fmla="*/ 1807460 w 12192000"/>
              <a:gd name="connsiteY37" fmla="*/ 3454808 h 6858000"/>
              <a:gd name="connsiteX38" fmla="*/ 1921251 w 12192000"/>
              <a:gd name="connsiteY38" fmla="*/ 3540889 h 6858000"/>
              <a:gd name="connsiteX39" fmla="*/ 1453313 w 12192000"/>
              <a:gd name="connsiteY39" fmla="*/ 3637002 h 6858000"/>
              <a:gd name="connsiteX40" fmla="*/ 1686122 w 12192000"/>
              <a:gd name="connsiteY40" fmla="*/ 3667634 h 6858000"/>
              <a:gd name="connsiteX41" fmla="*/ 1513692 w 12192000"/>
              <a:gd name="connsiteY41" fmla="*/ 3725196 h 6858000"/>
              <a:gd name="connsiteX42" fmla="*/ 1369711 w 12192000"/>
              <a:gd name="connsiteY42" fmla="*/ 3826063 h 6858000"/>
              <a:gd name="connsiteX43" fmla="*/ 2051298 w 12192000"/>
              <a:gd name="connsiteY43" fmla="*/ 3754242 h 6858000"/>
              <a:gd name="connsiteX44" fmla="*/ 2245207 w 12192000"/>
              <a:gd name="connsiteY44" fmla="*/ 3797018 h 6858000"/>
              <a:gd name="connsiteX45" fmla="*/ 2353192 w 12192000"/>
              <a:gd name="connsiteY45" fmla="*/ 3796489 h 6858000"/>
              <a:gd name="connsiteX46" fmla="*/ 2490207 w 12192000"/>
              <a:gd name="connsiteY46" fmla="*/ 3801242 h 6858000"/>
              <a:gd name="connsiteX47" fmla="*/ 2375835 w 12192000"/>
              <a:gd name="connsiteY47" fmla="*/ 3839794 h 6858000"/>
              <a:gd name="connsiteX48" fmla="*/ 2522138 w 12192000"/>
              <a:gd name="connsiteY48" fmla="*/ 4009841 h 6858000"/>
              <a:gd name="connsiteX49" fmla="*/ 1998466 w 12192000"/>
              <a:gd name="connsiteY49" fmla="*/ 4130778 h 6858000"/>
              <a:gd name="connsiteX50" fmla="*/ 2114580 w 12192000"/>
              <a:gd name="connsiteY50" fmla="*/ 4154543 h 6858000"/>
              <a:gd name="connsiteX51" fmla="*/ 2177862 w 12192000"/>
              <a:gd name="connsiteY51" fmla="*/ 4189925 h 6858000"/>
              <a:gd name="connsiteX52" fmla="*/ 1868419 w 12192000"/>
              <a:gd name="connsiteY52" fmla="*/ 4382153 h 6858000"/>
              <a:gd name="connsiteX53" fmla="*/ 2279460 w 12192000"/>
              <a:gd name="connsiteY53" fmla="*/ 4356805 h 6858000"/>
              <a:gd name="connsiteX54" fmla="*/ 2029817 w 12192000"/>
              <a:gd name="connsiteY54" fmla="*/ 4468235 h 6858000"/>
              <a:gd name="connsiteX55" fmla="*/ 1560137 w 12192000"/>
              <a:gd name="connsiteY55" fmla="*/ 4730172 h 6858000"/>
              <a:gd name="connsiteX56" fmla="*/ 1956664 w 12192000"/>
              <a:gd name="connsiteY56" fmla="*/ 4820477 h 6858000"/>
              <a:gd name="connsiteX57" fmla="*/ 3268168 w 12192000"/>
              <a:gd name="connsiteY57" fmla="*/ 4852692 h 6858000"/>
              <a:gd name="connsiteX58" fmla="*/ 2807197 w 12192000"/>
              <a:gd name="connsiteY58" fmla="*/ 4939300 h 6858000"/>
              <a:gd name="connsiteX59" fmla="*/ 2721272 w 12192000"/>
              <a:gd name="connsiteY59" fmla="*/ 4970458 h 6858000"/>
              <a:gd name="connsiteX60" fmla="*/ 2802552 w 12192000"/>
              <a:gd name="connsiteY60" fmla="*/ 5014291 h 6858000"/>
              <a:gd name="connsiteX61" fmla="*/ 2537812 w 12192000"/>
              <a:gd name="connsiteY61" fmla="*/ 5053898 h 6858000"/>
              <a:gd name="connsiteX62" fmla="*/ 2569744 w 12192000"/>
              <a:gd name="connsiteY62" fmla="*/ 5153182 h 6858000"/>
              <a:gd name="connsiteX63" fmla="*/ 1987436 w 12192000"/>
              <a:gd name="connsiteY63" fmla="*/ 5334320 h 6858000"/>
              <a:gd name="connsiteX64" fmla="*/ 1972921 w 12192000"/>
              <a:gd name="connsiteY64" fmla="*/ 5382376 h 6858000"/>
              <a:gd name="connsiteX65" fmla="*/ 2341001 w 12192000"/>
              <a:gd name="connsiteY65" fmla="*/ 5360725 h 6858000"/>
              <a:gd name="connsiteX66" fmla="*/ 2710822 w 12192000"/>
              <a:gd name="connsiteY66" fmla="*/ 5418816 h 6858000"/>
              <a:gd name="connsiteX67" fmla="*/ 2833903 w 12192000"/>
              <a:gd name="connsiteY67" fmla="*/ 5413007 h 6858000"/>
              <a:gd name="connsiteX68" fmla="*/ 3011556 w 12192000"/>
              <a:gd name="connsiteY68" fmla="*/ 5399276 h 6858000"/>
              <a:gd name="connsiteX69" fmla="*/ 3254233 w 12192000"/>
              <a:gd name="connsiteY69" fmla="*/ 5439412 h 6858000"/>
              <a:gd name="connsiteX70" fmla="*/ 2792101 w 12192000"/>
              <a:gd name="connsiteY70" fmla="*/ 5471625 h 6858000"/>
              <a:gd name="connsiteX71" fmla="*/ 2977303 w 12192000"/>
              <a:gd name="connsiteY71" fmla="*/ 5539751 h 6858000"/>
              <a:gd name="connsiteX72" fmla="*/ 3656566 w 12192000"/>
              <a:gd name="connsiteY72" fmla="*/ 5678642 h 6858000"/>
              <a:gd name="connsiteX73" fmla="*/ 4858340 w 12192000"/>
              <a:gd name="connsiteY73" fmla="*/ 5969625 h 6858000"/>
              <a:gd name="connsiteX74" fmla="*/ 5296668 w 12192000"/>
              <a:gd name="connsiteY74" fmla="*/ 6043559 h 6858000"/>
              <a:gd name="connsiteX75" fmla="*/ 5456323 w 12192000"/>
              <a:gd name="connsiteY75" fmla="*/ 6042502 h 6858000"/>
              <a:gd name="connsiteX76" fmla="*/ 5267058 w 12192000"/>
              <a:gd name="connsiteY76" fmla="*/ 6100066 h 6858000"/>
              <a:gd name="connsiteX77" fmla="*/ 7095266 w 12192000"/>
              <a:gd name="connsiteY77" fmla="*/ 6287541 h 6858000"/>
              <a:gd name="connsiteX78" fmla="*/ 9707235 w 12192000"/>
              <a:gd name="connsiteY78" fmla="*/ 5994446 h 6858000"/>
              <a:gd name="connsiteX79" fmla="*/ 10083442 w 12192000"/>
              <a:gd name="connsiteY79" fmla="*/ 5678642 h 6858000"/>
              <a:gd name="connsiteX80" fmla="*/ 10338892 w 12192000"/>
              <a:gd name="connsiteY80" fmla="*/ 4650957 h 6858000"/>
              <a:gd name="connsiteX81" fmla="*/ 10628013 w 12192000"/>
              <a:gd name="connsiteY81" fmla="*/ 4411198 h 6858000"/>
              <a:gd name="connsiteX82" fmla="*/ 10802766 w 12192000"/>
              <a:gd name="connsiteY82" fmla="*/ 4258050 h 6858000"/>
              <a:gd name="connsiteX83" fmla="*/ 10614662 w 12192000"/>
              <a:gd name="connsiteY83" fmla="*/ 4150318 h 6858000"/>
              <a:gd name="connsiteX84" fmla="*/ 10681427 w 12192000"/>
              <a:gd name="connsiteY84" fmla="*/ 4054203 h 6858000"/>
              <a:gd name="connsiteX85" fmla="*/ 10520029 w 12192000"/>
              <a:gd name="connsiteY85" fmla="*/ 3804411 h 6858000"/>
              <a:gd name="connsiteX86" fmla="*/ 10568798 w 12192000"/>
              <a:gd name="connsiteY86" fmla="*/ 3466426 h 6858000"/>
              <a:gd name="connsiteX87" fmla="*/ 10499709 w 12192000"/>
              <a:gd name="connsiteY87" fmla="*/ 3166465 h 6858000"/>
              <a:gd name="connsiteX88" fmla="*/ 10489840 w 12192000"/>
              <a:gd name="connsiteY88" fmla="*/ 2546475 h 6858000"/>
              <a:gd name="connsiteX89" fmla="*/ 10584471 w 12192000"/>
              <a:gd name="connsiteY89" fmla="*/ 2512148 h 6858000"/>
              <a:gd name="connsiteX90" fmla="*/ 10695942 w 12192000"/>
              <a:gd name="connsiteY90" fmla="*/ 2358471 h 6858000"/>
              <a:gd name="connsiteX91" fmla="*/ 10732516 w 12192000"/>
              <a:gd name="connsiteY91" fmla="*/ 2287706 h 6858000"/>
              <a:gd name="connsiteX92" fmla="*/ 10731357 w 12192000"/>
              <a:gd name="connsiteY92" fmla="*/ 2137725 h 6858000"/>
              <a:gd name="connsiteX93" fmla="*/ 10678525 w 12192000"/>
              <a:gd name="connsiteY93" fmla="*/ 2070656 h 6858000"/>
              <a:gd name="connsiteX94" fmla="*/ 10735999 w 12192000"/>
              <a:gd name="connsiteY94" fmla="*/ 1956587 h 6858000"/>
              <a:gd name="connsiteX95" fmla="*/ 10824246 w 12192000"/>
              <a:gd name="connsiteY95" fmla="*/ 1862584 h 6858000"/>
              <a:gd name="connsiteX96" fmla="*/ 10773156 w 12192000"/>
              <a:gd name="connsiteY96" fmla="*/ 1768054 h 6858000"/>
              <a:gd name="connsiteX97" fmla="*/ 10716261 w 12192000"/>
              <a:gd name="connsiteY97" fmla="*/ 1678278 h 6858000"/>
              <a:gd name="connsiteX98" fmla="*/ 10554864 w 12192000"/>
              <a:gd name="connsiteY98" fmla="*/ 1477599 h 6858000"/>
              <a:gd name="connsiteX99" fmla="*/ 10267483 w 12192000"/>
              <a:gd name="connsiteY99" fmla="*/ 1324977 h 6858000"/>
              <a:gd name="connsiteX100" fmla="*/ 9913337 w 12192000"/>
              <a:gd name="connsiteY100" fmla="*/ 1202458 h 6858000"/>
              <a:gd name="connsiteX101" fmla="*/ 10024805 w 12192000"/>
              <a:gd name="connsiteY101" fmla="*/ 1124827 h 6858000"/>
              <a:gd name="connsiteX102" fmla="*/ 9411726 w 12192000"/>
              <a:gd name="connsiteY102" fmla="*/ 980655 h 6858000"/>
              <a:gd name="connsiteX103" fmla="*/ 9930753 w 12192000"/>
              <a:gd name="connsiteY103" fmla="*/ 901968 h 6858000"/>
              <a:gd name="connsiteX104" fmla="*/ 9894178 w 12192000"/>
              <a:gd name="connsiteY104" fmla="*/ 871339 h 6858000"/>
              <a:gd name="connsiteX105" fmla="*/ 9858182 w 12192000"/>
              <a:gd name="connsiteY105" fmla="*/ 839125 h 6858000"/>
              <a:gd name="connsiteX106" fmla="*/ 10131050 w 12192000"/>
              <a:gd name="connsiteY106" fmla="*/ 792652 h 6858000"/>
              <a:gd name="connsiteX107" fmla="*/ 10006808 w 12192000"/>
              <a:gd name="connsiteY107" fmla="*/ 731920 h 6858000"/>
              <a:gd name="connsiteX108" fmla="*/ 10233809 w 12192000"/>
              <a:gd name="connsiteY108" fmla="*/ 710268 h 6858000"/>
              <a:gd name="connsiteX109" fmla="*/ 10267483 w 12192000"/>
              <a:gd name="connsiteY109" fmla="*/ 628940 h 6858000"/>
              <a:gd name="connsiteX110" fmla="*/ 10136275 w 12192000"/>
              <a:gd name="connsiteY110" fmla="*/ 589333 h 6858000"/>
              <a:gd name="connsiteX111" fmla="*/ 9131312 w 12192000"/>
              <a:gd name="connsiteY111" fmla="*/ 480544 h 6858000"/>
              <a:gd name="connsiteX112" fmla="*/ 7479600 w 12192000"/>
              <a:gd name="connsiteY112" fmla="*/ 454667 h 6858000"/>
              <a:gd name="connsiteX113" fmla="*/ 6724001 w 12192000"/>
              <a:gd name="connsiteY113" fmla="*/ 434021 h 6858000"/>
              <a:gd name="connsiteX114" fmla="*/ 0 w 12192000"/>
              <a:gd name="connsiteY114" fmla="*/ 0 h 6858000"/>
              <a:gd name="connsiteX115" fmla="*/ 12192000 w 12192000"/>
              <a:gd name="connsiteY115" fmla="*/ 0 h 6858000"/>
              <a:gd name="connsiteX116" fmla="*/ 12192000 w 12192000"/>
              <a:gd name="connsiteY116" fmla="*/ 6858000 h 6858000"/>
              <a:gd name="connsiteX117" fmla="*/ 0 w 12192000"/>
              <a:gd name="connsiteY11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12192000" h="6858000">
                <a:moveTo>
                  <a:pt x="6724001" y="434021"/>
                </a:moveTo>
                <a:cubicBezTo>
                  <a:pt x="6639882" y="433113"/>
                  <a:pt x="6555627" y="433147"/>
                  <a:pt x="6471155" y="434599"/>
                </a:cubicBezTo>
                <a:cubicBezTo>
                  <a:pt x="6109461" y="440937"/>
                  <a:pt x="5748349" y="439351"/>
                  <a:pt x="5384913" y="497971"/>
                </a:cubicBezTo>
                <a:cubicBezTo>
                  <a:pt x="5199132" y="528072"/>
                  <a:pt x="5005803" y="518038"/>
                  <a:pt x="4818280" y="541802"/>
                </a:cubicBezTo>
                <a:cubicBezTo>
                  <a:pt x="4532641" y="578242"/>
                  <a:pt x="4247003" y="621019"/>
                  <a:pt x="3965428" y="675942"/>
                </a:cubicBezTo>
                <a:cubicBezTo>
                  <a:pt x="3877181" y="693369"/>
                  <a:pt x="3768034" y="703930"/>
                  <a:pt x="3699528" y="770472"/>
                </a:cubicBezTo>
                <a:cubicBezTo>
                  <a:pt x="3590961" y="728224"/>
                  <a:pt x="3523617" y="807966"/>
                  <a:pt x="3438854" y="834899"/>
                </a:cubicBezTo>
                <a:cubicBezTo>
                  <a:pt x="3405761" y="845462"/>
                  <a:pt x="3362218" y="860248"/>
                  <a:pt x="3367443" y="893518"/>
                </a:cubicBezTo>
                <a:cubicBezTo>
                  <a:pt x="3372089" y="935238"/>
                  <a:pt x="3420855" y="962172"/>
                  <a:pt x="3467301" y="953722"/>
                </a:cubicBezTo>
                <a:cubicBezTo>
                  <a:pt x="3611863" y="927317"/>
                  <a:pt x="3741328" y="986464"/>
                  <a:pt x="3889955" y="977486"/>
                </a:cubicBezTo>
                <a:cubicBezTo>
                  <a:pt x="3760488" y="1002836"/>
                  <a:pt x="3631601" y="1028713"/>
                  <a:pt x="3502135" y="1054062"/>
                </a:cubicBezTo>
                <a:cubicBezTo>
                  <a:pt x="3694303" y="1074129"/>
                  <a:pt x="3883568" y="1038218"/>
                  <a:pt x="4072832" y="1017622"/>
                </a:cubicBezTo>
                <a:cubicBezTo>
                  <a:pt x="4133792" y="1011285"/>
                  <a:pt x="4228424" y="962699"/>
                  <a:pt x="4244099" y="1030825"/>
                </a:cubicBezTo>
                <a:cubicBezTo>
                  <a:pt x="4254550" y="1076242"/>
                  <a:pt x="4152951" y="1079410"/>
                  <a:pt x="4095475" y="1092084"/>
                </a:cubicBezTo>
                <a:cubicBezTo>
                  <a:pt x="3841766" y="1146479"/>
                  <a:pt x="3583994" y="1178165"/>
                  <a:pt x="3327386" y="1215660"/>
                </a:cubicBezTo>
                <a:cubicBezTo>
                  <a:pt x="3303001" y="1219357"/>
                  <a:pt x="3271070" y="1216188"/>
                  <a:pt x="3254813" y="1226749"/>
                </a:cubicBezTo>
                <a:cubicBezTo>
                  <a:pt x="3123605" y="1311774"/>
                  <a:pt x="2957563" y="1339765"/>
                  <a:pt x="2776427" y="1401552"/>
                </a:cubicBezTo>
                <a:cubicBezTo>
                  <a:pt x="2890798" y="1430598"/>
                  <a:pt x="2968012" y="1370921"/>
                  <a:pt x="3063226" y="1384124"/>
                </a:cubicBezTo>
                <a:cubicBezTo>
                  <a:pt x="2966272" y="1448024"/>
                  <a:pt x="2853641" y="1460171"/>
                  <a:pt x="2754945" y="1495025"/>
                </a:cubicBezTo>
                <a:cubicBezTo>
                  <a:pt x="2684117" y="1519846"/>
                  <a:pt x="2421119" y="1597477"/>
                  <a:pt x="2381061" y="1619658"/>
                </a:cubicBezTo>
                <a:cubicBezTo>
                  <a:pt x="2260302" y="1688311"/>
                  <a:pt x="2107033" y="1720525"/>
                  <a:pt x="2008336" y="1814527"/>
                </a:cubicBezTo>
                <a:cubicBezTo>
                  <a:pt x="1938668" y="1880540"/>
                  <a:pt x="1822554" y="1868393"/>
                  <a:pt x="1740695" y="1914337"/>
                </a:cubicBezTo>
                <a:cubicBezTo>
                  <a:pt x="1711667" y="1957642"/>
                  <a:pt x="1767982" y="1968733"/>
                  <a:pt x="1787720" y="1991970"/>
                </a:cubicBezTo>
                <a:cubicBezTo>
                  <a:pt x="1813846" y="2023126"/>
                  <a:pt x="1767401" y="2040555"/>
                  <a:pt x="1754048" y="2078049"/>
                </a:cubicBezTo>
                <a:cubicBezTo>
                  <a:pt x="1907898" y="2035802"/>
                  <a:pt x="2054781" y="2010981"/>
                  <a:pt x="2228951" y="1996721"/>
                </a:cubicBezTo>
                <a:cubicBezTo>
                  <a:pt x="2171475" y="2057452"/>
                  <a:pt x="2101807" y="2031048"/>
                  <a:pt x="2054781" y="2053228"/>
                </a:cubicBezTo>
                <a:cubicBezTo>
                  <a:pt x="2024011" y="2067487"/>
                  <a:pt x="1976984" y="2073824"/>
                  <a:pt x="1985693" y="2109207"/>
                </a:cubicBezTo>
                <a:cubicBezTo>
                  <a:pt x="1992660" y="2137196"/>
                  <a:pt x="2032140" y="2133500"/>
                  <a:pt x="2061168" y="2130859"/>
                </a:cubicBezTo>
                <a:cubicBezTo>
                  <a:pt x="2172636" y="2120825"/>
                  <a:pt x="2281202" y="2117656"/>
                  <a:pt x="2388026" y="2184726"/>
                </a:cubicBezTo>
                <a:cubicBezTo>
                  <a:pt x="2116321" y="2282425"/>
                  <a:pt x="1803977" y="2241233"/>
                  <a:pt x="1560719" y="2384876"/>
                </a:cubicBezTo>
                <a:cubicBezTo>
                  <a:pt x="1594973" y="2429237"/>
                  <a:pt x="1643739" y="2405472"/>
                  <a:pt x="1679734" y="2400191"/>
                </a:cubicBezTo>
                <a:cubicBezTo>
                  <a:pt x="1916026" y="2364279"/>
                  <a:pt x="2760170" y="2428180"/>
                  <a:pt x="2882089" y="2383292"/>
                </a:cubicBezTo>
                <a:cubicBezTo>
                  <a:pt x="2956983" y="2355830"/>
                  <a:pt x="3035941" y="2342628"/>
                  <a:pt x="3116638" y="2359528"/>
                </a:cubicBezTo>
                <a:cubicBezTo>
                  <a:pt x="3194434" y="2375898"/>
                  <a:pt x="3174696" y="2605622"/>
                  <a:pt x="2897765" y="2758243"/>
                </a:cubicBezTo>
                <a:cubicBezTo>
                  <a:pt x="2858286" y="2779895"/>
                  <a:pt x="3034779" y="2811053"/>
                  <a:pt x="2981367" y="2829008"/>
                </a:cubicBezTo>
                <a:cubicBezTo>
                  <a:pt x="2939566" y="2843267"/>
                  <a:pt x="2734626" y="2835346"/>
                  <a:pt x="2682955" y="2846436"/>
                </a:cubicBezTo>
                <a:cubicBezTo>
                  <a:pt x="2662635" y="2851188"/>
                  <a:pt x="2040267" y="3029159"/>
                  <a:pt x="2099485" y="3066653"/>
                </a:cubicBezTo>
                <a:cubicBezTo>
                  <a:pt x="2276558" y="3179139"/>
                  <a:pt x="2869897" y="3385098"/>
                  <a:pt x="1807460" y="3454808"/>
                </a:cubicBezTo>
                <a:cubicBezTo>
                  <a:pt x="1841132" y="3495472"/>
                  <a:pt x="1934024" y="3469596"/>
                  <a:pt x="1921251" y="3540889"/>
                </a:cubicBezTo>
                <a:cubicBezTo>
                  <a:pt x="1780173" y="3579440"/>
                  <a:pt x="1617035" y="3577328"/>
                  <a:pt x="1453313" y="3637002"/>
                </a:cubicBezTo>
                <a:cubicBezTo>
                  <a:pt x="1527047" y="3680307"/>
                  <a:pt x="1611808" y="3653902"/>
                  <a:pt x="1686122" y="3667634"/>
                </a:cubicBezTo>
                <a:cubicBezTo>
                  <a:pt x="1644320" y="3722027"/>
                  <a:pt x="1572330" y="3713578"/>
                  <a:pt x="1513692" y="3725196"/>
                </a:cubicBezTo>
                <a:cubicBezTo>
                  <a:pt x="1459700" y="3736286"/>
                  <a:pt x="1345329" y="3830816"/>
                  <a:pt x="1369711" y="3826063"/>
                </a:cubicBezTo>
                <a:cubicBezTo>
                  <a:pt x="1595553" y="3783815"/>
                  <a:pt x="1824877" y="3795434"/>
                  <a:pt x="2051298" y="3754242"/>
                </a:cubicBezTo>
                <a:cubicBezTo>
                  <a:pt x="2126192" y="3740511"/>
                  <a:pt x="2210955" y="3714106"/>
                  <a:pt x="2245207" y="3797018"/>
                </a:cubicBezTo>
                <a:cubicBezTo>
                  <a:pt x="2255659" y="3821310"/>
                  <a:pt x="2248109" y="3829232"/>
                  <a:pt x="2353192" y="3796489"/>
                </a:cubicBezTo>
                <a:cubicBezTo>
                  <a:pt x="2394414" y="3783815"/>
                  <a:pt x="2448988" y="3770085"/>
                  <a:pt x="2490207" y="3801242"/>
                </a:cubicBezTo>
                <a:cubicBezTo>
                  <a:pt x="2464082" y="3840321"/>
                  <a:pt x="2413572" y="3828703"/>
                  <a:pt x="2375835" y="3839794"/>
                </a:cubicBezTo>
                <a:cubicBezTo>
                  <a:pt x="2275978" y="3868311"/>
                  <a:pt x="2619094" y="3977100"/>
                  <a:pt x="2522138" y="4009841"/>
                </a:cubicBezTo>
                <a:cubicBezTo>
                  <a:pt x="2323584" y="4076912"/>
                  <a:pt x="2199343" y="4057372"/>
                  <a:pt x="1998466" y="4130778"/>
                </a:cubicBezTo>
                <a:cubicBezTo>
                  <a:pt x="2066973" y="4129192"/>
                  <a:pt x="2046072" y="4154543"/>
                  <a:pt x="2114580" y="4154543"/>
                </a:cubicBezTo>
                <a:cubicBezTo>
                  <a:pt x="2145350" y="4154543"/>
                  <a:pt x="2177862" y="4160878"/>
                  <a:pt x="2177862" y="4189925"/>
                </a:cubicBezTo>
                <a:cubicBezTo>
                  <a:pt x="2177862" y="4217385"/>
                  <a:pt x="1817330" y="4367895"/>
                  <a:pt x="1868419" y="4382153"/>
                </a:cubicBezTo>
                <a:cubicBezTo>
                  <a:pt x="2007755" y="4420704"/>
                  <a:pt x="2365385" y="4302410"/>
                  <a:pt x="2279460" y="4356805"/>
                </a:cubicBezTo>
                <a:cubicBezTo>
                  <a:pt x="2148834" y="4439716"/>
                  <a:pt x="2129094" y="4456088"/>
                  <a:pt x="2029817" y="4468235"/>
                </a:cubicBezTo>
                <a:cubicBezTo>
                  <a:pt x="1944474" y="4478796"/>
                  <a:pt x="1644320" y="4710633"/>
                  <a:pt x="1560137" y="4730172"/>
                </a:cubicBezTo>
                <a:cubicBezTo>
                  <a:pt x="1485825" y="4747072"/>
                  <a:pt x="1774947" y="4800410"/>
                  <a:pt x="1956664" y="4820477"/>
                </a:cubicBezTo>
                <a:cubicBezTo>
                  <a:pt x="2130256" y="4840017"/>
                  <a:pt x="3101544" y="4789319"/>
                  <a:pt x="3268168" y="4852692"/>
                </a:cubicBezTo>
                <a:cubicBezTo>
                  <a:pt x="3111993" y="4878041"/>
                  <a:pt x="2970336" y="4953030"/>
                  <a:pt x="2807197" y="4939300"/>
                </a:cubicBezTo>
                <a:cubicBezTo>
                  <a:pt x="2773524" y="4936660"/>
                  <a:pt x="2724756" y="4930323"/>
                  <a:pt x="2721272" y="4970458"/>
                </a:cubicBezTo>
                <a:cubicBezTo>
                  <a:pt x="2718369" y="5005313"/>
                  <a:pt x="2788038" y="4981548"/>
                  <a:pt x="2802552" y="5014291"/>
                </a:cubicBezTo>
                <a:cubicBezTo>
                  <a:pt x="2719531" y="5060235"/>
                  <a:pt x="2621415" y="5018515"/>
                  <a:pt x="2537812" y="5053898"/>
                </a:cubicBezTo>
                <a:cubicBezTo>
                  <a:pt x="2491948" y="5099314"/>
                  <a:pt x="2589483" y="5107236"/>
                  <a:pt x="2569744" y="5153182"/>
                </a:cubicBezTo>
                <a:cubicBezTo>
                  <a:pt x="2301522" y="5193845"/>
                  <a:pt x="2252174" y="5268836"/>
                  <a:pt x="1987436" y="5334320"/>
                </a:cubicBezTo>
                <a:cubicBezTo>
                  <a:pt x="1971179" y="5338545"/>
                  <a:pt x="1958407" y="5352274"/>
                  <a:pt x="1972921" y="5382376"/>
                </a:cubicBezTo>
                <a:cubicBezTo>
                  <a:pt x="2087874" y="5396107"/>
                  <a:pt x="2215599" y="5373399"/>
                  <a:pt x="2341001" y="5360725"/>
                </a:cubicBezTo>
                <a:cubicBezTo>
                  <a:pt x="2537812" y="5340129"/>
                  <a:pt x="2533748" y="5339072"/>
                  <a:pt x="2710822" y="5418816"/>
                </a:cubicBezTo>
                <a:cubicBezTo>
                  <a:pt x="2743914" y="5433602"/>
                  <a:pt x="2801390" y="5438355"/>
                  <a:pt x="2833903" y="5413007"/>
                </a:cubicBezTo>
                <a:cubicBezTo>
                  <a:pt x="2896604" y="5364422"/>
                  <a:pt x="2950016" y="5368646"/>
                  <a:pt x="3011556" y="5399276"/>
                </a:cubicBezTo>
                <a:cubicBezTo>
                  <a:pt x="3077160" y="5432547"/>
                  <a:pt x="3171793" y="5391882"/>
                  <a:pt x="3254233" y="5439412"/>
                </a:cubicBezTo>
                <a:cubicBezTo>
                  <a:pt x="3099802" y="5473739"/>
                  <a:pt x="2957563" y="5473739"/>
                  <a:pt x="2792101" y="5471625"/>
                </a:cubicBezTo>
                <a:cubicBezTo>
                  <a:pt x="2846095" y="5537639"/>
                  <a:pt x="2914601" y="5536582"/>
                  <a:pt x="2977303" y="5539751"/>
                </a:cubicBezTo>
                <a:cubicBezTo>
                  <a:pt x="3214174" y="5551898"/>
                  <a:pt x="3601411" y="5660686"/>
                  <a:pt x="3656566" y="5678642"/>
                </a:cubicBezTo>
                <a:cubicBezTo>
                  <a:pt x="4280675" y="5879847"/>
                  <a:pt x="4178497" y="5898332"/>
                  <a:pt x="4858340" y="5969625"/>
                </a:cubicBezTo>
                <a:cubicBezTo>
                  <a:pt x="5261253" y="6011873"/>
                  <a:pt x="4887368" y="6032469"/>
                  <a:pt x="5296668" y="6043559"/>
                </a:cubicBezTo>
                <a:cubicBezTo>
                  <a:pt x="5349500" y="6045143"/>
                  <a:pt x="5402911" y="6044087"/>
                  <a:pt x="5456323" y="6042502"/>
                </a:cubicBezTo>
                <a:cubicBezTo>
                  <a:pt x="5368077" y="6073134"/>
                  <a:pt x="5267058" y="6100066"/>
                  <a:pt x="5267058" y="6100066"/>
                </a:cubicBezTo>
                <a:cubicBezTo>
                  <a:pt x="5267058" y="6100066"/>
                  <a:pt x="5318728" y="6208854"/>
                  <a:pt x="7095266" y="6287541"/>
                </a:cubicBezTo>
                <a:cubicBezTo>
                  <a:pt x="7422124" y="6302329"/>
                  <a:pt x="9563254" y="6024548"/>
                  <a:pt x="9707235" y="5994446"/>
                </a:cubicBezTo>
                <a:cubicBezTo>
                  <a:pt x="9844249" y="5966984"/>
                  <a:pt x="10002164" y="5671247"/>
                  <a:pt x="10083442" y="5678642"/>
                </a:cubicBezTo>
                <a:cubicBezTo>
                  <a:pt x="10103183" y="5653293"/>
                  <a:pt x="10283158" y="5139979"/>
                  <a:pt x="10338892" y="4650957"/>
                </a:cubicBezTo>
                <a:cubicBezTo>
                  <a:pt x="10448618" y="4580718"/>
                  <a:pt x="10551960" y="4503088"/>
                  <a:pt x="10628013" y="4411198"/>
                </a:cubicBezTo>
                <a:cubicBezTo>
                  <a:pt x="10675040" y="4354692"/>
                  <a:pt x="10718003" y="4298185"/>
                  <a:pt x="10802766" y="4258050"/>
                </a:cubicBezTo>
                <a:cubicBezTo>
                  <a:pt x="10755739" y="4203128"/>
                  <a:pt x="10675040" y="4190453"/>
                  <a:pt x="10614662" y="4150318"/>
                </a:cubicBezTo>
                <a:cubicBezTo>
                  <a:pt x="10610017" y="4117046"/>
                  <a:pt x="10705811" y="4127081"/>
                  <a:pt x="10681427" y="4054203"/>
                </a:cubicBezTo>
                <a:cubicBezTo>
                  <a:pt x="10648335" y="3957032"/>
                  <a:pt x="10684328" y="3846131"/>
                  <a:pt x="10520029" y="3804411"/>
                </a:cubicBezTo>
                <a:cubicBezTo>
                  <a:pt x="10476485" y="3709881"/>
                  <a:pt x="10464294" y="3558845"/>
                  <a:pt x="10568798" y="3466426"/>
                </a:cubicBezTo>
                <a:cubicBezTo>
                  <a:pt x="10724388" y="3328592"/>
                  <a:pt x="10699424" y="3240927"/>
                  <a:pt x="10499709" y="3166465"/>
                </a:cubicBezTo>
                <a:cubicBezTo>
                  <a:pt x="10474164" y="3156958"/>
                  <a:pt x="10501452" y="2570768"/>
                  <a:pt x="10489840" y="2546475"/>
                </a:cubicBezTo>
                <a:cubicBezTo>
                  <a:pt x="10508418" y="2513205"/>
                  <a:pt x="10551960" y="2521126"/>
                  <a:pt x="10584471" y="2512148"/>
                </a:cubicBezTo>
                <a:cubicBezTo>
                  <a:pt x="10726711" y="2474125"/>
                  <a:pt x="10731357" y="2474125"/>
                  <a:pt x="10695942" y="2358471"/>
                </a:cubicBezTo>
                <a:cubicBezTo>
                  <a:pt x="10685490" y="2323616"/>
                  <a:pt x="10709874" y="2309357"/>
                  <a:pt x="10732516" y="2287706"/>
                </a:cubicBezTo>
                <a:cubicBezTo>
                  <a:pt x="10817280" y="2206905"/>
                  <a:pt x="10817860" y="2205850"/>
                  <a:pt x="10731357" y="2137725"/>
                </a:cubicBezTo>
                <a:cubicBezTo>
                  <a:pt x="10706391" y="2118185"/>
                  <a:pt x="10689555" y="2097061"/>
                  <a:pt x="10678525" y="2070656"/>
                </a:cubicBezTo>
                <a:cubicBezTo>
                  <a:pt x="10658203" y="2022599"/>
                  <a:pt x="10658784" y="1982463"/>
                  <a:pt x="10735999" y="1956587"/>
                </a:cubicBezTo>
                <a:cubicBezTo>
                  <a:pt x="10789993" y="1938104"/>
                  <a:pt x="10820762" y="1916978"/>
                  <a:pt x="10824246" y="1862584"/>
                </a:cubicBezTo>
                <a:cubicBezTo>
                  <a:pt x="10826570" y="1817166"/>
                  <a:pt x="10832955" y="1787594"/>
                  <a:pt x="10773156" y="1768054"/>
                </a:cubicBezTo>
                <a:cubicBezTo>
                  <a:pt x="10724969" y="1752211"/>
                  <a:pt x="10711036" y="1718412"/>
                  <a:pt x="10716261" y="1678278"/>
                </a:cubicBezTo>
                <a:cubicBezTo>
                  <a:pt x="10728452" y="1580050"/>
                  <a:pt x="10662849" y="1522487"/>
                  <a:pt x="10554864" y="1477599"/>
                </a:cubicBezTo>
                <a:cubicBezTo>
                  <a:pt x="10452101" y="1434822"/>
                  <a:pt x="10362116" y="1377259"/>
                  <a:pt x="10267483" y="1324977"/>
                </a:cubicBezTo>
                <a:cubicBezTo>
                  <a:pt x="10162399" y="1266887"/>
                  <a:pt x="10040481" y="1232031"/>
                  <a:pt x="9913337" y="1202458"/>
                </a:cubicBezTo>
                <a:cubicBezTo>
                  <a:pt x="9936561" y="1160210"/>
                  <a:pt x="10016678" y="1183974"/>
                  <a:pt x="10024805" y="1124827"/>
                </a:cubicBezTo>
                <a:cubicBezTo>
                  <a:pt x="9826251" y="1074658"/>
                  <a:pt x="9636408" y="999139"/>
                  <a:pt x="9411726" y="980655"/>
                </a:cubicBezTo>
                <a:cubicBezTo>
                  <a:pt x="9593444" y="990161"/>
                  <a:pt x="9758326" y="922036"/>
                  <a:pt x="9930753" y="901968"/>
                </a:cubicBezTo>
                <a:cubicBezTo>
                  <a:pt x="9947008" y="868698"/>
                  <a:pt x="9909273" y="877147"/>
                  <a:pt x="9894178" y="871339"/>
                </a:cubicBezTo>
                <a:cubicBezTo>
                  <a:pt x="9879083" y="865001"/>
                  <a:pt x="9860506" y="862889"/>
                  <a:pt x="9858182" y="839125"/>
                </a:cubicBezTo>
                <a:cubicBezTo>
                  <a:pt x="9941205" y="804798"/>
                  <a:pt x="10045126" y="827506"/>
                  <a:pt x="10131050" y="792652"/>
                </a:cubicBezTo>
                <a:cubicBezTo>
                  <a:pt x="10111891" y="741954"/>
                  <a:pt x="10037578" y="772583"/>
                  <a:pt x="10006808" y="731920"/>
                </a:cubicBezTo>
                <a:cubicBezTo>
                  <a:pt x="10086927" y="724526"/>
                  <a:pt x="10161239" y="721357"/>
                  <a:pt x="10233809" y="710268"/>
                </a:cubicBezTo>
                <a:cubicBezTo>
                  <a:pt x="10290705" y="701818"/>
                  <a:pt x="10306380" y="658513"/>
                  <a:pt x="10267483" y="628940"/>
                </a:cubicBezTo>
                <a:cubicBezTo>
                  <a:pt x="10232648" y="602536"/>
                  <a:pt x="10181559" y="600422"/>
                  <a:pt x="10136275" y="589333"/>
                </a:cubicBezTo>
                <a:cubicBezTo>
                  <a:pt x="9813479" y="512230"/>
                  <a:pt x="9474428" y="487409"/>
                  <a:pt x="9131312" y="480544"/>
                </a:cubicBezTo>
                <a:cubicBezTo>
                  <a:pt x="8580936" y="469453"/>
                  <a:pt x="8028817" y="469982"/>
                  <a:pt x="7479600" y="454667"/>
                </a:cubicBezTo>
                <a:cubicBezTo>
                  <a:pt x="7227489" y="447934"/>
                  <a:pt x="6976357" y="436744"/>
                  <a:pt x="6724001" y="434021"/>
                </a:cubicBezTo>
                <a:close/>
                <a:moveTo>
                  <a:pt x="0" y="0"/>
                </a:moveTo>
                <a:lnTo>
                  <a:pt x="12192000" y="0"/>
                </a:lnTo>
                <a:lnTo>
                  <a:pt x="12192000" y="6858000"/>
                </a:ln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pic>
        <p:nvPicPr>
          <p:cNvPr id="2050" name="Picture 2" descr="Logistics Powerpoint Templates and ...">
            <a:extLst>
              <a:ext uri="{FF2B5EF4-FFF2-40B4-BE49-F238E27FC236}">
                <a16:creationId xmlns:a16="http://schemas.microsoft.com/office/drawing/2014/main" id="{545D323C-A8EF-02AF-FDD0-A4607D2AAEE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481960" y="1098281"/>
            <a:ext cx="9285888" cy="406330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D513C18-2F58-7837-39A3-1B1CF891E48B}"/>
              </a:ext>
            </a:extLst>
          </p:cNvPr>
          <p:cNvSpPr txBox="1"/>
          <p:nvPr/>
        </p:nvSpPr>
        <p:spPr>
          <a:xfrm>
            <a:off x="4008371" y="5541193"/>
            <a:ext cx="4063562" cy="646331"/>
          </a:xfrm>
          <a:prstGeom prst="rect">
            <a:avLst/>
          </a:prstGeom>
          <a:noFill/>
        </p:spPr>
        <p:txBody>
          <a:bodyPr wrap="square">
            <a:spAutoFit/>
          </a:bodyPr>
          <a:lstStyle/>
          <a:p>
            <a:pPr marL="0" indent="0" algn="ctr">
              <a:buNone/>
            </a:pPr>
            <a:r>
              <a:rPr lang="en-US" sz="1800" b="1" dirty="0">
                <a:solidFill>
                  <a:schemeClr val="accent1"/>
                </a:solidFill>
                <a:ea typeface="Arial" pitchFamily="34" charset="-122"/>
                <a:cs typeface="Arial" pitchFamily="34" charset="-120"/>
              </a:rPr>
              <a:t>Presentation by: PARVEEN PATEL</a:t>
            </a:r>
          </a:p>
          <a:p>
            <a:pPr algn="ctr"/>
            <a:endParaRPr lang="en-US" sz="1800" b="1" dirty="0">
              <a:solidFill>
                <a:schemeClr val="accent1"/>
              </a:solidFill>
              <a:cs typeface="Arial" pitchFamily="34" charset="-120"/>
            </a:endParaRPr>
          </a:p>
        </p:txBody>
      </p:sp>
    </p:spTree>
    <p:extLst>
      <p:ext uri="{BB962C8B-B14F-4D97-AF65-F5344CB8AC3E}">
        <p14:creationId xmlns:p14="http://schemas.microsoft.com/office/powerpoint/2010/main" val="9329881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389</TotalTime>
  <Words>1329</Words>
  <Application>Microsoft Office PowerPoint</Application>
  <PresentationFormat>Widescreen</PresentationFormat>
  <Paragraphs>151</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Amasis MT Pro Medium</vt:lpstr>
      <vt:lpstr>Aptos</vt:lpstr>
      <vt:lpstr>Aptos Display</vt:lpstr>
      <vt:lpstr>Arial</vt:lpstr>
      <vt:lpstr>Office Theme</vt:lpstr>
      <vt:lpstr>AI-Powered Supply Chain Risk Intelligence System   Predictive Analytics + ML Project  (Predictive AI)  End-to-End Data + AI Platform</vt:lpstr>
      <vt:lpstr>Problem Definition &amp; AI Framing</vt:lpstr>
      <vt:lpstr>PowerPoint Presentation</vt:lpstr>
      <vt:lpstr>Dataset Overview</vt:lpstr>
      <vt:lpstr>PowerPoint Presentation</vt:lpstr>
      <vt:lpstr>Data Architecture &amp; Pipeline Design</vt:lpstr>
      <vt:lpstr>PowerPoint Presentation</vt:lpstr>
      <vt:lpstr>PowerPoint Presentation</vt:lpstr>
      <vt:lpstr>Delta Lake Implementation</vt:lpstr>
      <vt:lpstr>Model Selection &amp; Technical Reasoning</vt:lpstr>
      <vt:lpstr>Training, Evaluation &amp; Metrics</vt:lpstr>
      <vt:lpstr>MLflow Experiment Tracking</vt:lpstr>
      <vt:lpstr>Data Pipeline ↔ AI Workflow Integration</vt:lpstr>
      <vt:lpstr>Business Impact &amp; Practical Use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Amir Patel</dc:creator>
  <cp:lastModifiedBy>Amir Patel</cp:lastModifiedBy>
  <cp:revision>8</cp:revision>
  <dcterms:created xsi:type="dcterms:W3CDTF">2026-03-17T10:56:27Z</dcterms:created>
  <dcterms:modified xsi:type="dcterms:W3CDTF">2026-03-17T17:26:03Z</dcterms:modified>
</cp:coreProperties>
</file>